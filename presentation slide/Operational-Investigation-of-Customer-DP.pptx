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6" r:id="rId5"/>
    <p:sldId id="262" r:id="rId6"/>
    <p:sldId id="261" r:id="rId7"/>
    <p:sldId id="263" r:id="rId8"/>
    <p:sldId id="265" r:id="rId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rimson Pro SemiBold" panose="020B0604020202020204" charset="0"/>
      <p:regular r:id="rId15"/>
    </p:embeddedFont>
    <p:embeddedFont>
      <p:font typeface="Heebo" panose="020B0604020202020204" charset="-79"/>
      <p:regular r:id="rId16"/>
    </p:embeddedFont>
    <p:embeddedFont>
      <p:font typeface="Heebo Bold" panose="020B0604020202020204" charset="-79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2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9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289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Investigation of Customer Differential Pressure (DP)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7283" y="1736269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smtClean="0">
                <a:solidFill>
                  <a:srgbClr val="4C4C4D"/>
                </a:solidFill>
                <a:latin typeface="Crimson Pro SemiBold" pitchFamily="34" charset="0"/>
              </a:rPr>
              <a:t>Question Investigated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282" y="2020058"/>
            <a:ext cx="5157561" cy="446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 what operating conditions does customer DP fall below the 12 psi upset threshold?</a:t>
            </a:r>
          </a:p>
        </p:txBody>
      </p:sp>
      <p:sp>
        <p:nvSpPr>
          <p:cNvPr id="8" name="Text 6"/>
          <p:cNvSpPr/>
          <p:nvPr/>
        </p:nvSpPr>
        <p:spPr>
          <a:xfrm>
            <a:off x="557283" y="2331968"/>
            <a:ext cx="3640339" cy="1174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smtClean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Findings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dirty="0" smtClean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DP fell below the 12 psi upset threshold in 21% of observations.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Peak operating conditions increased threshold breaches by approximately 75% compared with non-peak operation.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and system demand consistently showed the strongest association with reduced customer DP.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output pressure was the strongest controllable operational variable associated with improved DP.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4106" y="3813157"/>
            <a:ext cx="5877385" cy="5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the operational conditions associated with customer DP falling below the 12 psi upset threshold and recommend practical operational actions to reduce customer risk</a:t>
            </a:r>
            <a:r>
              <a:rPr lang="en-US" sz="1000" dirty="0" smtClean="0"/>
              <a:t>.</a:t>
            </a:r>
            <a:endParaRPr lang="en-US" sz="9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7282" y="3562758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smtClean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Objective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2167" y="121555"/>
            <a:ext cx="8151763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DP Risk Increases Materially During Peak Conditions</a:t>
            </a:r>
            <a:endParaRPr lang="en-US" sz="15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425838"/>
            <a:ext cx="8940800" cy="4586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76108" y="143079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smtClean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DP Does not Deteriorate Randomly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5" y="462128"/>
            <a:ext cx="8771466" cy="4624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1" y="731520"/>
            <a:ext cx="9047180" cy="432457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87" y="249490"/>
            <a:ext cx="150168" cy="120104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496119" y="121487"/>
            <a:ext cx="7896041" cy="37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400" dirty="0"/>
              <a:t>Customer DP risk peaks during the early-to-mid afternoon, aligning closely with the system's highest cooling demand.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4962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28"/>
            <a:ext cx="8987883" cy="4421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9181" y="120234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 smtClean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Are </a:t>
            </a: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Main DP </a:t>
            </a:r>
            <a:r>
              <a:rPr lang="en-US" sz="1500" dirty="0" smtClean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Drivers ?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471859" y="4826572"/>
            <a:ext cx="8151763" cy="31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ct val="108000"/>
              </a:lnSpc>
              <a:buNone/>
            </a:pPr>
            <a:endParaRPr lang="en-US" sz="7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9" y="657690"/>
            <a:ext cx="8866049" cy="4269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8304"/>
            <a:ext cx="1075294" cy="147191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54236" y="387325"/>
            <a:ext cx="1206103" cy="18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RECOMMENDATIONS</a:t>
            </a:r>
            <a:endParaRPr lang="en-US" sz="600" b="1" dirty="0"/>
          </a:p>
        </p:txBody>
      </p:sp>
      <p:sp>
        <p:nvSpPr>
          <p:cNvPr id="4" name="Text 2"/>
          <p:cNvSpPr/>
          <p:nvPr/>
        </p:nvSpPr>
        <p:spPr>
          <a:xfrm>
            <a:off x="496119" y="535707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Move From Reactive to Proactive Risk Management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26393" y="952128"/>
            <a:ext cx="4097164" cy="1513061"/>
          </a:xfrm>
          <a:prstGeom prst="roundRect">
            <a:avLst>
              <a:gd name="adj" fmla="val 961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523280" y="1027807"/>
            <a:ext cx="3903390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 smtClean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Short Term Actions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280" y="1254919"/>
            <a:ext cx="3903390" cy="1183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Introduce a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warning band above 12 psi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(e.g., 13–14 psi) to provide early alert before threshold breach — </a:t>
            </a:r>
            <a:r>
              <a:rPr lang="en-US" sz="750" dirty="0" smtClean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after</a:t>
            </a:r>
            <a:endParaRPr lang="en-US" sz="750" dirty="0"/>
          </a:p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Continue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five-minute monitoring during peak conditions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hourly resolution is insufficient to capture the speed of DP deterioration during high-demand periods</a:t>
            </a:r>
            <a:endParaRPr lang="en-US" sz="750" dirty="0"/>
          </a:p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combined DP risk alerts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trigger on Humidex + flow combinations, not single-variable thresholds</a:t>
            </a:r>
            <a:endParaRPr lang="en-US" sz="750" dirty="0"/>
          </a:p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output pressure strategy during forecast high-demand periods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it is the strongest controllable positive lever identified in the analysis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94932" y="1027807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 smtClean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Medium Term </a:t>
            </a: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Improvements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94932" y="1254919"/>
            <a:ext cx="3957712" cy="88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plant dispatch strategy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Plant 2's negative association with customer DP warrants investigation with Operations; Plant 1 and Plant 2 behave differently under load</a:t>
            </a:r>
            <a:endParaRPr lang="en-US" sz="750" dirty="0"/>
          </a:p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upset event duration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just frequency — a 20-minute breach has materially different customer impact than a 2-minute spike</a:t>
            </a:r>
            <a:endParaRPr lang="en-US" sz="750" dirty="0"/>
          </a:p>
          <a:p>
            <a:pPr marL="152400" indent="-152400" algn="l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predictive weather monitoring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operational planning; Humidex forecasts can provide 12–24 hour advance warning of elevated DP risk windows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50319"/>
            <a:ext cx="8151763" cy="198104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78791" y="3357896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Warning Band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78791" y="3641198"/>
            <a:ext cx="1231850" cy="31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alert above 12 psi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41353" y="345837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Combined Alerts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141353" y="3741677"/>
            <a:ext cx="1231850" cy="31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Merge sensor and operational signals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35284" y="3357896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Weather Dispatch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835284" y="3861762"/>
            <a:ext cx="1231850" cy="31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Adjust </a:t>
            </a:r>
            <a:r>
              <a:rPr lang="en-US" sz="1100" dirty="0" smtClean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crew 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based on forecasts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3530" y="3301285"/>
            <a:ext cx="1231849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Predictive DP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513530" y="3584586"/>
            <a:ext cx="1231849" cy="47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Forecast depressurization events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554235" y="4585579"/>
            <a:ext cx="79058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latin typeface="Heebo" panose="020B0604020202020204" charset="-79"/>
                <a:cs typeface="Heebo" panose="020B0604020202020204" charset="-79"/>
              </a:rPr>
              <a:t>Recommendations are prioritized based on operational feasibility, potential customer impact, and the statistical evidence observed during </a:t>
            </a:r>
            <a:r>
              <a:rPr lang="en-US" sz="900" dirty="0" smtClean="0">
                <a:latin typeface="Heebo" panose="020B0604020202020204" charset="-79"/>
                <a:cs typeface="Heebo" panose="020B0604020202020204" charset="-79"/>
              </a:rPr>
              <a:t>the analysis </a:t>
            </a:r>
            <a:r>
              <a:rPr lang="en-US" sz="900" dirty="0">
                <a:latin typeface="Heebo" panose="020B0604020202020204" charset="-79"/>
                <a:cs typeface="Heebo" panose="020B0604020202020204" charset="-79"/>
              </a:rPr>
              <a:t>period</a:t>
            </a:r>
            <a:r>
              <a:rPr lang="en-US" dirty="0"/>
              <a:t>. </a:t>
            </a:r>
            <a:r>
              <a:rPr lang="en-US" sz="900" dirty="0">
                <a:latin typeface="Heebo" panose="020B0604020202020204" charset="-79"/>
                <a:cs typeface="Heebo" panose="020B0604020202020204" charset="-79"/>
              </a:rPr>
              <a:t>Validate recommendations jointly with Operations, Plant Chiefs, and Engineering before modifying dispatch or pressure strategies</a:t>
            </a:r>
            <a:r>
              <a:rPr lang="en-US" sz="900" dirty="0" smtClean="0">
                <a:latin typeface="Heebo" panose="020B0604020202020204" charset="-79"/>
                <a:cs typeface="Heebo" panose="020B0604020202020204" charset="-79"/>
              </a:rPr>
              <a:t>.</a:t>
            </a:r>
            <a:endParaRPr lang="en-US" sz="900" dirty="0">
              <a:latin typeface="Heebo" panose="020B0604020202020204" charset="-79"/>
              <a:cs typeface="Heebo" panose="020B060402020202020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5473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 </a:t>
            </a:r>
            <a:r>
              <a:rPr lang="en-US" sz="2400" dirty="0" smtClean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!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 smtClean="0">
                <a:solidFill>
                  <a:srgbClr val="152D47"/>
                </a:solidFill>
                <a:latin typeface="Crimson Pro SemiBold" pitchFamily="34" charset="0"/>
              </a:rPr>
              <a:t>Questions &amp; Discussion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313227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Nd Fyneface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2213</TotalTime>
  <Words>397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Wingdings</vt:lpstr>
      <vt:lpstr>Crimson Pro SemiBold</vt:lpstr>
      <vt:lpstr>Heebo</vt:lpstr>
      <vt:lpstr>Arial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ND</cp:lastModifiedBy>
  <cp:revision>53</cp:revision>
  <dcterms:created xsi:type="dcterms:W3CDTF">2026-07-21T19:27:15Z</dcterms:created>
  <dcterms:modified xsi:type="dcterms:W3CDTF">2026-08-25T17:33:32Z</dcterms:modified>
</cp:coreProperties>
</file>