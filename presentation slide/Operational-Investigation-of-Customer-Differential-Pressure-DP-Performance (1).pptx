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6" r:id="rId7"/>
    <p:sldId id="261" r:id="rId8"/>
    <p:sldId id="262" r:id="rId9"/>
    <p:sldId id="263" r:id="rId10"/>
    <p:sldId id="264" r:id="rId11"/>
    <p:sldId id="265" r:id="rId12"/>
  </p:sldIdLst>
  <p:sldSz cx="9144000" cy="5143500" type="screen16x9"/>
  <p:notesSz cx="5143500" cy="9144000"/>
  <p:embeddedFontLst>
    <p:embeddedFont>
      <p:font typeface="Calibri" panose="020F0502020204030204" pitchFamily="34" charset="0"/>
      <p:regular r:id="rId14"/>
      <p:bold r:id="rId15"/>
      <p:italic r:id="rId16"/>
      <p:boldItalic r:id="rId17"/>
    </p:embeddedFont>
    <p:embeddedFont>
      <p:font typeface="Heebo" panose="020B0604020202020204" charset="-79"/>
      <p:regular r:id="rId18"/>
    </p:embeddedFont>
    <p:embeddedFont>
      <p:font typeface="Crimson Pro SemiBold" panose="020B0604020202020204" charset="0"/>
      <p:regular r:id="rId19"/>
    </p:embeddedFont>
    <p:embeddedFont>
      <p:font typeface="Heebo Bold" panose="020B0604020202020204" charset="-79"/>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1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0243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73089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2-5.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3.svg"/><Relationship Id="rId4" Type="http://schemas.openxmlformats.org/officeDocument/2006/relationships/image" Target="../media/image2.png"/><Relationship Id="rId9" Type="http://schemas.openxmlformats.org/officeDocument/2006/relationships/image" Target="../media/image-2-7.svg"/></Relationships>
</file>

<file path=ppt/slides/_rels/slide3.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3-6.svg"/><Relationship Id="rId12"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8.png"/><Relationship Id="rId5" Type="http://schemas.openxmlformats.org/officeDocument/2006/relationships/image" Target="../media/image-3-2.svg"/><Relationship Id="rId10" Type="http://schemas.openxmlformats.org/officeDocument/2006/relationships/image" Target="../media/image-3-10.svg"/><Relationship Id="rId4" Type="http://schemas.openxmlformats.org/officeDocument/2006/relationships/image" Target="../media/image-3-2.sv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12.png"/><Relationship Id="rId7" Type="http://schemas.openxmlformats.org/officeDocument/2006/relationships/image" Target="../media/image-6-4.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4.svg"/><Relationship Id="rId11" Type="http://schemas.openxmlformats.org/officeDocument/2006/relationships/image" Target="../media/image17.png"/><Relationship Id="rId10" Type="http://schemas.openxmlformats.org/officeDocument/2006/relationships/image" Target="../media/image-6-4.sv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598289"/>
            <a:ext cx="8151763" cy="775097"/>
          </a:xfrm>
          <a:prstGeom prst="rect">
            <a:avLst/>
          </a:prstGeom>
          <a:noFill/>
          <a:ln/>
        </p:spPr>
        <p:txBody>
          <a:bodyPr wrap="square" lIns="0" tIns="0" rIns="0" bIns="0" rtlCol="0" anchor="t">
            <a:normAutofit/>
          </a:bodyPr>
          <a:lstStyle/>
          <a:p>
            <a:pPr marL="0" indent="0" algn="ctr">
              <a:lnSpc>
                <a:spcPct val="104000"/>
              </a:lnSpc>
              <a:buNone/>
            </a:pPr>
            <a:r>
              <a:rPr lang="en-US" sz="2400" dirty="0">
                <a:solidFill>
                  <a:srgbClr val="152D47"/>
                </a:solidFill>
                <a:latin typeface="Crimson Pro SemiBold" pitchFamily="34" charset="0"/>
                <a:ea typeface="Crimson Pro SemiBold" pitchFamily="34" charset="-122"/>
                <a:cs typeface="Crimson Pro SemiBold" pitchFamily="34" charset="-120"/>
              </a:rPr>
              <a:t>Operational Investigation of Customer Differential Pressure (DP) Performance</a:t>
            </a:r>
            <a:endParaRPr lang="en-US" sz="2400" dirty="0"/>
          </a:p>
        </p:txBody>
      </p:sp>
      <p:sp>
        <p:nvSpPr>
          <p:cNvPr id="5" name="Text 3"/>
          <p:cNvSpPr/>
          <p:nvPr/>
        </p:nvSpPr>
        <p:spPr>
          <a:xfrm>
            <a:off x="557283" y="1736269"/>
            <a:ext cx="3765947" cy="193849"/>
          </a:xfrm>
          <a:prstGeom prst="rect">
            <a:avLst/>
          </a:prstGeom>
          <a:noFill/>
          <a:ln/>
        </p:spPr>
        <p:txBody>
          <a:bodyPr wrap="none" lIns="0" tIns="0" rIns="0" bIns="0" rtlCol="0" anchor="t"/>
          <a:lstStyle/>
          <a:p>
            <a:pPr marL="0" indent="0" algn="l">
              <a:lnSpc>
                <a:spcPct val="104000"/>
              </a:lnSpc>
              <a:buNone/>
            </a:pPr>
            <a:r>
              <a:rPr lang="en-US" sz="1400" dirty="0" smtClean="0">
                <a:solidFill>
                  <a:srgbClr val="4C4C4D"/>
                </a:solidFill>
                <a:latin typeface="Crimson Pro SemiBold" pitchFamily="34" charset="0"/>
              </a:rPr>
              <a:t>Question Investigated</a:t>
            </a:r>
            <a:endParaRPr lang="en-US" sz="1400" dirty="0"/>
          </a:p>
        </p:txBody>
      </p:sp>
      <p:sp>
        <p:nvSpPr>
          <p:cNvPr id="6" name="Text 4"/>
          <p:cNvSpPr/>
          <p:nvPr/>
        </p:nvSpPr>
        <p:spPr>
          <a:xfrm>
            <a:off x="557282" y="2020058"/>
            <a:ext cx="5157561" cy="446410"/>
          </a:xfrm>
          <a:prstGeom prst="rect">
            <a:avLst/>
          </a:prstGeom>
          <a:noFill/>
          <a:ln/>
        </p:spPr>
        <p:txBody>
          <a:bodyPr wrap="none" lIns="0" tIns="0" rIns="0" bIns="0" rtlCol="0" anchor="t"/>
          <a:lstStyle/>
          <a:p>
            <a:pPr marL="171450" indent="-171450">
              <a:lnSpc>
                <a:spcPct val="133000"/>
              </a:lnSpc>
              <a:buFont typeface="Arial" panose="020B0604020202020204" pitchFamily="34" charset="0"/>
              <a:buChar char="•"/>
            </a:pPr>
            <a:r>
              <a:rPr lang="en-US" sz="950" dirty="0">
                <a:solidFill>
                  <a:srgbClr val="4C4C4D"/>
                </a:solidFill>
                <a:latin typeface="Heebo" pitchFamily="34" charset="0"/>
                <a:ea typeface="Heebo" pitchFamily="34" charset="-122"/>
                <a:cs typeface="Heebo" pitchFamily="34" charset="-120"/>
              </a:rPr>
              <a:t>Under what operating conditions does customer DP fall below the 12 psi upset threshold?</a:t>
            </a:r>
          </a:p>
        </p:txBody>
      </p:sp>
      <p:sp>
        <p:nvSpPr>
          <p:cNvPr id="8" name="Text 6"/>
          <p:cNvSpPr/>
          <p:nvPr/>
        </p:nvSpPr>
        <p:spPr>
          <a:xfrm>
            <a:off x="557283" y="2331968"/>
            <a:ext cx="3640339" cy="1174240"/>
          </a:xfrm>
          <a:prstGeom prst="rect">
            <a:avLst/>
          </a:prstGeom>
          <a:noFill/>
          <a:ln/>
        </p:spPr>
        <p:txBody>
          <a:bodyPr wrap="none" lIns="0" tIns="0" rIns="0" bIns="0" rtlCol="0" anchor="t"/>
          <a:lstStyle/>
          <a:p>
            <a:pPr marL="0" indent="0" algn="l">
              <a:lnSpc>
                <a:spcPct val="104000"/>
              </a:lnSpc>
              <a:buNone/>
            </a:pPr>
            <a:r>
              <a:rPr lang="en-US" sz="1400" dirty="0" smtClean="0">
                <a:solidFill>
                  <a:srgbClr val="4C4C4D"/>
                </a:solidFill>
                <a:latin typeface="Crimson Pro SemiBold" pitchFamily="34" charset="0"/>
                <a:ea typeface="Crimson Pro SemiBold" pitchFamily="34" charset="-122"/>
                <a:cs typeface="Crimson Pro SemiBold" pitchFamily="34" charset="-120"/>
              </a:rPr>
              <a:t>Key Findings</a:t>
            </a:r>
          </a:p>
          <a:p>
            <a:pPr marL="171450" indent="-171450">
              <a:lnSpc>
                <a:spcPct val="150000"/>
              </a:lnSpc>
              <a:buFont typeface="Arial" panose="020B0604020202020204" pitchFamily="34" charset="0"/>
              <a:buChar char="•"/>
            </a:pPr>
            <a:r>
              <a:rPr lang="en-US" sz="950" dirty="0" smtClean="0">
                <a:solidFill>
                  <a:srgbClr val="4C4C4D"/>
                </a:solidFill>
                <a:latin typeface="Heebo" pitchFamily="34" charset="0"/>
                <a:ea typeface="Heebo" pitchFamily="34" charset="-122"/>
                <a:cs typeface="Heebo" pitchFamily="34" charset="-120"/>
              </a:rPr>
              <a:t>Customer </a:t>
            </a:r>
            <a:r>
              <a:rPr lang="en-US" sz="950" dirty="0">
                <a:solidFill>
                  <a:srgbClr val="4C4C4D"/>
                </a:solidFill>
                <a:latin typeface="Heebo" pitchFamily="34" charset="0"/>
                <a:ea typeface="Heebo" pitchFamily="34" charset="-122"/>
                <a:cs typeface="Heebo" pitchFamily="34" charset="-120"/>
              </a:rPr>
              <a:t>DP fell below the 12 psi upset threshold in 21% of observations.</a:t>
            </a:r>
          </a:p>
          <a:p>
            <a:pPr marL="171450" indent="-171450">
              <a:lnSpc>
                <a:spcPct val="150000"/>
              </a:lnSpc>
              <a:buFont typeface="Arial" panose="020B0604020202020204" pitchFamily="34" charset="0"/>
              <a:buChar char="•"/>
            </a:pPr>
            <a:r>
              <a:rPr lang="en-US" sz="950" dirty="0">
                <a:solidFill>
                  <a:srgbClr val="4C4C4D"/>
                </a:solidFill>
                <a:latin typeface="Heebo" pitchFamily="34" charset="0"/>
                <a:ea typeface="Heebo" pitchFamily="34" charset="-122"/>
                <a:cs typeface="Heebo" pitchFamily="34" charset="-120"/>
              </a:rPr>
              <a:t>Peak operating conditions increased threshold breaches by approximately 75% compared with non-peak operation.</a:t>
            </a:r>
          </a:p>
          <a:p>
            <a:pPr marL="171450" indent="-171450">
              <a:lnSpc>
                <a:spcPct val="150000"/>
              </a:lnSpc>
              <a:buFont typeface="Arial" panose="020B0604020202020204" pitchFamily="34" charset="0"/>
              <a:buChar char="•"/>
            </a:pPr>
            <a:r>
              <a:rPr lang="en-US" sz="950" dirty="0">
                <a:solidFill>
                  <a:srgbClr val="4C4C4D"/>
                </a:solidFill>
                <a:latin typeface="Heebo" pitchFamily="34" charset="0"/>
                <a:ea typeface="Heebo" pitchFamily="34" charset="-122"/>
                <a:cs typeface="Heebo" pitchFamily="34" charset="-120"/>
              </a:rPr>
              <a:t>Weather and system demand consistently showed the strongest association with reduced customer DP.</a:t>
            </a:r>
          </a:p>
          <a:p>
            <a:pPr marL="171450" indent="-171450">
              <a:lnSpc>
                <a:spcPct val="150000"/>
              </a:lnSpc>
              <a:buFont typeface="Arial" panose="020B0604020202020204" pitchFamily="34" charset="0"/>
              <a:buChar char="•"/>
            </a:pPr>
            <a:r>
              <a:rPr lang="en-US" sz="950" dirty="0">
                <a:solidFill>
                  <a:srgbClr val="4C4C4D"/>
                </a:solidFill>
                <a:latin typeface="Heebo" pitchFamily="34" charset="0"/>
                <a:ea typeface="Heebo" pitchFamily="34" charset="-122"/>
                <a:cs typeface="Heebo" pitchFamily="34" charset="-120"/>
              </a:rPr>
              <a:t>System output pressure was the strongest controllable operational variable associated with improved DP.</a:t>
            </a:r>
            <a:endParaRPr lang="en-US" sz="1200" dirty="0"/>
          </a:p>
        </p:txBody>
      </p:sp>
      <p:sp>
        <p:nvSpPr>
          <p:cNvPr id="9" name="Text 7"/>
          <p:cNvSpPr/>
          <p:nvPr/>
        </p:nvSpPr>
        <p:spPr>
          <a:xfrm>
            <a:off x="564106" y="3813157"/>
            <a:ext cx="5877385" cy="532508"/>
          </a:xfrm>
          <a:prstGeom prst="rect">
            <a:avLst/>
          </a:prstGeom>
          <a:noFill/>
          <a:ln/>
        </p:spPr>
        <p:txBody>
          <a:bodyPr wrap="square" lIns="0" tIns="0" rIns="0" bIns="0" rtlCol="0" anchor="t"/>
          <a:lstStyle/>
          <a:p>
            <a:pPr marL="171450" indent="-171450">
              <a:lnSpc>
                <a:spcPct val="133000"/>
              </a:lnSpc>
              <a:buFont typeface="Arial" panose="020B0604020202020204" pitchFamily="34" charset="0"/>
              <a:buChar char="•"/>
            </a:pPr>
            <a:r>
              <a:rPr lang="en-US" sz="950" dirty="0">
                <a:solidFill>
                  <a:srgbClr val="4C4C4D"/>
                </a:solidFill>
                <a:latin typeface="Heebo" pitchFamily="34" charset="0"/>
                <a:ea typeface="Heebo" pitchFamily="34" charset="-122"/>
                <a:cs typeface="Heebo" pitchFamily="34" charset="-120"/>
              </a:rPr>
              <a:t>Identify the operational conditions associated with customer DP falling below the 12 psi upset threshold and recommend practical operational actions to reduce customer risk</a:t>
            </a:r>
            <a:r>
              <a:rPr lang="en-US" sz="1000" dirty="0" smtClean="0"/>
              <a:t>.</a:t>
            </a:r>
            <a:endParaRPr lang="en-US" sz="950" dirty="0">
              <a:solidFill>
                <a:srgbClr val="4C4C4D"/>
              </a:solidFill>
              <a:latin typeface="Heebo" pitchFamily="34" charset="0"/>
              <a:ea typeface="Heebo" pitchFamily="34" charset="-122"/>
              <a:cs typeface="Heebo" pitchFamily="34" charset="-120"/>
            </a:endParaRPr>
          </a:p>
        </p:txBody>
      </p:sp>
      <p:sp>
        <p:nvSpPr>
          <p:cNvPr id="11" name="Text 9"/>
          <p:cNvSpPr/>
          <p:nvPr/>
        </p:nvSpPr>
        <p:spPr>
          <a:xfrm>
            <a:off x="557282" y="3562758"/>
            <a:ext cx="3765947" cy="193849"/>
          </a:xfrm>
          <a:prstGeom prst="rect">
            <a:avLst/>
          </a:prstGeom>
          <a:noFill/>
          <a:ln/>
        </p:spPr>
        <p:txBody>
          <a:bodyPr wrap="none" lIns="0" tIns="0" rIns="0" bIns="0" rtlCol="0" anchor="t"/>
          <a:lstStyle/>
          <a:p>
            <a:pPr marL="0" indent="0" algn="l">
              <a:lnSpc>
                <a:spcPct val="104000"/>
              </a:lnSpc>
              <a:buNone/>
            </a:pPr>
            <a:r>
              <a:rPr lang="en-US" sz="1400" dirty="0" smtClean="0">
                <a:solidFill>
                  <a:srgbClr val="4C4C4D"/>
                </a:solidFill>
                <a:latin typeface="Crimson Pro SemiBold" pitchFamily="34" charset="0"/>
                <a:ea typeface="Crimson Pro SemiBold" pitchFamily="34" charset="-122"/>
                <a:cs typeface="Crimson Pro SemiBold" pitchFamily="34" charset="-120"/>
              </a:rPr>
              <a:t>Business Objective</a:t>
            </a:r>
            <a:endParaRPr lang="en-US" sz="1400" dirty="0"/>
          </a:p>
        </p:txBody>
      </p:sp>
      <p:sp>
        <p:nvSpPr>
          <p:cNvPr id="19" name="TextBox 18"/>
          <p:cNvSpPr txBox="1"/>
          <p:nvPr/>
        </p:nvSpPr>
        <p:spPr>
          <a:xfrm>
            <a:off x="1396972" y="4453839"/>
            <a:ext cx="6692053" cy="481157"/>
          </a:xfrm>
          <a:prstGeom prst="rect">
            <a:avLst/>
          </a:prstGeom>
          <a:noFill/>
        </p:spPr>
        <p:txBody>
          <a:bodyPr wrap="square" rtlCol="0">
            <a:spAutoFit/>
          </a:bodyPr>
          <a:lstStyle/>
          <a:p>
            <a:pPr marL="171450" indent="-171450">
              <a:lnSpc>
                <a:spcPct val="133000"/>
              </a:lnSpc>
              <a:buFont typeface="Wingdings" panose="05000000000000000000" pitchFamily="2" charset="2"/>
              <a:buChar char="Ø"/>
            </a:pPr>
            <a:r>
              <a:rPr lang="en-US" sz="950" dirty="0">
                <a:solidFill>
                  <a:srgbClr val="4C4C4D"/>
                </a:solidFill>
                <a:latin typeface="Heebo" pitchFamily="34" charset="0"/>
                <a:ea typeface="Heebo" pitchFamily="34" charset="-122"/>
                <a:cs typeface="Heebo" pitchFamily="34" charset="-120"/>
              </a:rPr>
              <a:t>This investigation identifies the operational conditions associated with customer DP deterioration and recommends actions to reduce customer upset events.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348183"/>
            <a:ext cx="970880" cy="161851"/>
          </a:xfrm>
          <a:prstGeom prst="roundRect">
            <a:avLst>
              <a:gd name="adj" fmla="val 7904"/>
            </a:avLst>
          </a:prstGeom>
          <a:solidFill>
            <a:srgbClr val="CCD7FF"/>
          </a:solidFill>
          <a:ln/>
        </p:spPr>
      </p:sp>
      <p:sp>
        <p:nvSpPr>
          <p:cNvPr id="3" name="Text 1"/>
          <p:cNvSpPr/>
          <p:nvPr/>
        </p:nvSpPr>
        <p:spPr>
          <a:xfrm>
            <a:off x="560040" y="380107"/>
            <a:ext cx="1300237" cy="98003"/>
          </a:xfrm>
          <a:prstGeom prst="rect">
            <a:avLst/>
          </a:prstGeom>
          <a:noFill/>
          <a:ln/>
        </p:spPr>
        <p:txBody>
          <a:bodyPr wrap="none" lIns="0" tIns="0" rIns="0" bIns="0" rtlCol="0" anchor="t"/>
          <a:lstStyle/>
          <a:p>
            <a:pPr marL="0" indent="0" algn="l">
              <a:lnSpc>
                <a:spcPct val="96000"/>
              </a:lnSpc>
              <a:buNone/>
            </a:pPr>
            <a:r>
              <a:rPr lang="en-US" sz="650" dirty="0">
                <a:solidFill>
                  <a:srgbClr val="4C4C4D"/>
                </a:solidFill>
                <a:latin typeface="Heebo" pitchFamily="34" charset="0"/>
                <a:ea typeface="Heebo" pitchFamily="34" charset="-122"/>
                <a:cs typeface="Heebo" pitchFamily="34" charset="-120"/>
              </a:rPr>
              <a:t>CONTEXT &amp; FRAMING</a:t>
            </a:r>
            <a:endParaRPr lang="en-US" sz="650" dirty="0"/>
          </a:p>
        </p:txBody>
      </p:sp>
      <p:sp>
        <p:nvSpPr>
          <p:cNvPr id="4" name="Text 2"/>
          <p:cNvSpPr/>
          <p:nvPr/>
        </p:nvSpPr>
        <p:spPr>
          <a:xfrm>
            <a:off x="496119" y="546646"/>
            <a:ext cx="8151763" cy="333077"/>
          </a:xfrm>
          <a:prstGeom prst="rect">
            <a:avLst/>
          </a:prstGeom>
          <a:noFill/>
          <a:ln/>
        </p:spPr>
        <p:txBody>
          <a:bodyPr wrap="none" lIns="0" tIns="0" rIns="0" bIns="0" rtlCol="0" anchor="t"/>
          <a:lstStyle/>
          <a:p>
            <a:pPr marL="0" indent="0" algn="l">
              <a:lnSpc>
                <a:spcPct val="104000"/>
              </a:lnSpc>
              <a:buNone/>
            </a:pPr>
            <a:r>
              <a:rPr lang="en-US" sz="2050" dirty="0">
                <a:solidFill>
                  <a:srgbClr val="152D47"/>
                </a:solidFill>
                <a:latin typeface="Crimson Pro SemiBold" pitchFamily="34" charset="0"/>
                <a:ea typeface="Crimson Pro SemiBold" pitchFamily="34" charset="-122"/>
                <a:cs typeface="Crimson Pro SemiBold" pitchFamily="34" charset="-120"/>
              </a:rPr>
              <a:t>Business Problem, Objective &amp; Business Value</a:t>
            </a:r>
            <a:endParaRPr lang="en-US" sz="2050" dirty="0"/>
          </a:p>
        </p:txBody>
      </p:sp>
      <p:sp>
        <p:nvSpPr>
          <p:cNvPr id="5" name="Shape 3"/>
          <p:cNvSpPr/>
          <p:nvPr/>
        </p:nvSpPr>
        <p:spPr>
          <a:xfrm>
            <a:off x="419398" y="1017091"/>
            <a:ext cx="4099322" cy="2353494"/>
          </a:xfrm>
          <a:prstGeom prst="roundRect">
            <a:avLst>
              <a:gd name="adj" fmla="val 679"/>
            </a:avLst>
          </a:prstGeom>
          <a:solidFill>
            <a:srgbClr val="2150FE"/>
          </a:solidFill>
          <a:ln/>
        </p:spPr>
      </p:sp>
      <p:sp>
        <p:nvSpPr>
          <p:cNvPr id="6" name="Text 4"/>
          <p:cNvSpPr/>
          <p:nvPr/>
        </p:nvSpPr>
        <p:spPr>
          <a:xfrm>
            <a:off x="525959" y="1108695"/>
            <a:ext cx="3886200" cy="166539"/>
          </a:xfrm>
          <a:prstGeom prst="rect">
            <a:avLst/>
          </a:prstGeom>
          <a:noFill/>
          <a:ln/>
        </p:spPr>
        <p:txBody>
          <a:bodyPr wrap="none" lIns="0" tIns="0" rIns="0" bIns="0" rtlCol="0" anchor="t"/>
          <a:lstStyle/>
          <a:p>
            <a:pPr marL="0" indent="0" algn="l">
              <a:lnSpc>
                <a:spcPct val="104000"/>
              </a:lnSpc>
              <a:buNone/>
            </a:pPr>
            <a:r>
              <a:rPr lang="en-US" sz="1000" dirty="0">
                <a:solidFill>
                  <a:srgbClr val="FFFFFF"/>
                </a:solidFill>
                <a:latin typeface="Crimson Pro SemiBold" pitchFamily="34" charset="0"/>
                <a:ea typeface="Crimson Pro SemiBold" pitchFamily="34" charset="-122"/>
                <a:cs typeface="Crimson Pro SemiBold" pitchFamily="34" charset="-120"/>
              </a:rPr>
              <a:t>Why 12 PSI </a:t>
            </a:r>
            <a:r>
              <a:rPr lang="en-US" sz="1000" dirty="0" smtClean="0">
                <a:solidFill>
                  <a:srgbClr val="FFFFFF"/>
                </a:solidFill>
                <a:latin typeface="Crimson Pro SemiBold" pitchFamily="34" charset="0"/>
                <a:ea typeface="Crimson Pro SemiBold" pitchFamily="34" charset="-122"/>
                <a:cs typeface="Crimson Pro SemiBold" pitchFamily="34" charset="-120"/>
              </a:rPr>
              <a:t>Matters ?</a:t>
            </a:r>
            <a:endParaRPr lang="en-US" sz="1000" dirty="0"/>
          </a:p>
        </p:txBody>
      </p:sp>
      <p:sp>
        <p:nvSpPr>
          <p:cNvPr id="7" name="Text 5"/>
          <p:cNvSpPr/>
          <p:nvPr/>
        </p:nvSpPr>
        <p:spPr>
          <a:xfrm>
            <a:off x="525959" y="1271302"/>
            <a:ext cx="3886200" cy="1900758"/>
          </a:xfrm>
          <a:prstGeom prst="rect">
            <a:avLst/>
          </a:prstGeom>
          <a:noFill/>
          <a:ln/>
        </p:spPr>
        <p:txBody>
          <a:bodyPr wrap="square" lIns="0" tIns="0" rIns="0" bIns="0" rtlCol="0" anchor="t">
            <a:normAutofit/>
          </a:bodyPr>
          <a:lstStyle/>
          <a:p>
            <a:pPr marL="0" indent="0" algn="l">
              <a:lnSpc>
                <a:spcPct val="124000"/>
              </a:lnSpc>
              <a:spcAft>
                <a:spcPts val="600"/>
              </a:spcAft>
              <a:buNone/>
            </a:pPr>
            <a:endParaRPr lang="en-US" sz="1100" b="1" dirty="0" smtClean="0">
              <a:solidFill>
                <a:srgbClr val="FFFFFF"/>
              </a:solidFill>
              <a:latin typeface="Heebo Bold" pitchFamily="34" charset="0"/>
              <a:ea typeface="Heebo Bold" pitchFamily="34" charset="-122"/>
              <a:cs typeface="Heebo Bold" pitchFamily="34" charset="-120"/>
            </a:endParaRPr>
          </a:p>
          <a:p>
            <a:pPr marL="0" indent="0" algn="l">
              <a:lnSpc>
                <a:spcPct val="124000"/>
              </a:lnSpc>
              <a:spcAft>
                <a:spcPts val="600"/>
              </a:spcAft>
              <a:buNone/>
            </a:pPr>
            <a:r>
              <a:rPr lang="en-US" sz="1100" b="1" dirty="0" smtClean="0">
                <a:solidFill>
                  <a:srgbClr val="FFFFFF"/>
                </a:solidFill>
                <a:latin typeface="Heebo Bold" pitchFamily="34" charset="0"/>
                <a:ea typeface="Heebo Bold" pitchFamily="34" charset="-122"/>
                <a:cs typeface="Heebo Bold" pitchFamily="34" charset="-120"/>
              </a:rPr>
              <a:t>12 </a:t>
            </a:r>
            <a:r>
              <a:rPr lang="en-US" sz="1100" b="1" dirty="0">
                <a:solidFill>
                  <a:srgbClr val="FFFFFF"/>
                </a:solidFill>
                <a:latin typeface="Heebo Bold" pitchFamily="34" charset="0"/>
                <a:ea typeface="Heebo Bold" pitchFamily="34" charset="-122"/>
                <a:cs typeface="Heebo Bold" pitchFamily="34" charset="-120"/>
              </a:rPr>
              <a:t>psi is the upset threshold</a:t>
            </a:r>
            <a:r>
              <a:rPr lang="en-US" sz="1100" dirty="0">
                <a:solidFill>
                  <a:srgbClr val="FFFFFF"/>
                </a:solidFill>
                <a:latin typeface="Heebo" pitchFamily="34" charset="0"/>
                <a:ea typeface="Heebo" pitchFamily="34" charset="-122"/>
                <a:cs typeface="Heebo" pitchFamily="34" charset="-120"/>
              </a:rPr>
              <a:t> — not a target. Readings below this level indicate a service delivery failure, not a performance gap.</a:t>
            </a:r>
            <a:endParaRPr lang="en-US" sz="1100" dirty="0"/>
          </a:p>
          <a:p>
            <a:pPr marL="0" indent="0" algn="l">
              <a:lnSpc>
                <a:spcPct val="124000"/>
              </a:lnSpc>
              <a:spcAft>
                <a:spcPts val="600"/>
              </a:spcAft>
              <a:buNone/>
            </a:pPr>
            <a:endParaRPr lang="en-US" sz="800" dirty="0"/>
          </a:p>
          <a:p>
            <a:pPr marL="0" indent="0" algn="l">
              <a:lnSpc>
                <a:spcPct val="124000"/>
              </a:lnSpc>
              <a:buNone/>
            </a:pPr>
            <a:r>
              <a:rPr lang="en-US" sz="1100" dirty="0">
                <a:solidFill>
                  <a:srgbClr val="FFFFFF"/>
                </a:solidFill>
                <a:latin typeface="Heebo" pitchFamily="34" charset="0"/>
                <a:ea typeface="Heebo" pitchFamily="34" charset="-122"/>
                <a:cs typeface="Heebo" pitchFamily="34" charset="-120"/>
              </a:rPr>
              <a:t>Understanding when and why DP falls below threshold is the first step toward proactive operations rather than reactive response.</a:t>
            </a:r>
            <a:endParaRPr lang="en-US" sz="1100" dirty="0"/>
          </a:p>
        </p:txBody>
      </p:sp>
      <p:sp>
        <p:nvSpPr>
          <p:cNvPr id="8" name="Text 6"/>
          <p:cNvSpPr/>
          <p:nvPr/>
        </p:nvSpPr>
        <p:spPr>
          <a:xfrm>
            <a:off x="4706764" y="1108695"/>
            <a:ext cx="3945880" cy="166539"/>
          </a:xfrm>
          <a:prstGeom prst="rect">
            <a:avLst/>
          </a:prstGeom>
          <a:noFill/>
          <a:ln/>
        </p:spPr>
        <p:txBody>
          <a:bodyPr wrap="none" lIns="0" tIns="0" rIns="0" bIns="0" rtlCol="0" anchor="t"/>
          <a:lstStyle/>
          <a:p>
            <a:pPr marL="0" indent="0" algn="l">
              <a:lnSpc>
                <a:spcPct val="104000"/>
              </a:lnSpc>
              <a:buNone/>
            </a:pPr>
            <a:r>
              <a:rPr lang="en-US" sz="1000" dirty="0">
                <a:solidFill>
                  <a:srgbClr val="152D47"/>
                </a:solidFill>
                <a:latin typeface="Crimson Pro SemiBold" pitchFamily="34" charset="0"/>
                <a:ea typeface="Crimson Pro SemiBold" pitchFamily="34" charset="-122"/>
                <a:cs typeface="Crimson Pro SemiBold" pitchFamily="34" charset="-120"/>
              </a:rPr>
              <a:t>Objective &amp; Methodology</a:t>
            </a:r>
            <a:endParaRPr lang="en-US" sz="1000" dirty="0"/>
          </a:p>
        </p:txBody>
      </p:sp>
      <p:sp>
        <p:nvSpPr>
          <p:cNvPr id="9" name="Text 7"/>
          <p:cNvSpPr/>
          <p:nvPr/>
        </p:nvSpPr>
        <p:spPr>
          <a:xfrm>
            <a:off x="4706764" y="1366838"/>
            <a:ext cx="3945880"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4C4C4D"/>
                </a:solidFill>
                <a:latin typeface="Heebo" pitchFamily="34" charset="0"/>
                <a:ea typeface="Heebo" pitchFamily="34" charset="-122"/>
                <a:cs typeface="Heebo" pitchFamily="34" charset="-120"/>
              </a:rPr>
              <a:t>Identify the operational conditions </a:t>
            </a:r>
            <a:r>
              <a:rPr lang="en-US" sz="800" i="1" dirty="0">
                <a:solidFill>
                  <a:srgbClr val="4C4C4D"/>
                </a:solidFill>
                <a:latin typeface="Heebo" pitchFamily="34" charset="0"/>
                <a:ea typeface="Heebo" pitchFamily="34" charset="-122"/>
                <a:cs typeface="Heebo" pitchFamily="34" charset="-120"/>
              </a:rPr>
              <a:t>statistically associated</a:t>
            </a:r>
            <a:r>
              <a:rPr lang="en-US" sz="800" dirty="0">
                <a:solidFill>
                  <a:srgbClr val="4C4C4D"/>
                </a:solidFill>
                <a:latin typeface="Heebo" pitchFamily="34" charset="0"/>
                <a:ea typeface="Heebo" pitchFamily="34" charset="-122"/>
                <a:cs typeface="Heebo" pitchFamily="34" charset="-120"/>
              </a:rPr>
              <a:t> with customer DP falling below the 12 psi upset threshold.</a:t>
            </a:r>
            <a:endParaRPr lang="en-US" sz="800" dirty="0"/>
          </a:p>
        </p:txBody>
      </p:sp>
      <p:pic>
        <p:nvPicPr>
          <p:cNvPr id="10" name="Image 0" descr="preencoded.png"/>
          <p:cNvPicPr>
            <a:picLocks noChangeAspect="1"/>
          </p:cNvPicPr>
          <p:nvPr/>
        </p:nvPicPr>
        <p:blipFill>
          <a:blip r:embed="rId3"/>
          <a:stretch>
            <a:fillRect/>
          </a:stretch>
        </p:blipFill>
        <p:spPr>
          <a:xfrm>
            <a:off x="4706764" y="1786979"/>
            <a:ext cx="3945880" cy="1480617"/>
          </a:xfrm>
          <a:prstGeom prst="rect">
            <a:avLst/>
          </a:prstGeom>
        </p:spPr>
      </p:pic>
      <p:sp>
        <p:nvSpPr>
          <p:cNvPr id="11" name="Text 8"/>
          <p:cNvSpPr/>
          <p:nvPr/>
        </p:nvSpPr>
        <p:spPr>
          <a:xfrm>
            <a:off x="7894949" y="2850840"/>
            <a:ext cx="595133" cy="229289"/>
          </a:xfrm>
          <a:prstGeom prst="rect">
            <a:avLst/>
          </a:prstGeom>
          <a:noFill/>
          <a:ln/>
        </p:spPr>
        <p:txBody>
          <a:bodyPr wrap="square" lIns="0" tIns="0" rIns="0" bIns="0" rtlCol="0" anchor="t">
            <a:normAutofit/>
          </a:bodyPr>
          <a:lstStyle/>
          <a:p>
            <a:pPr marL="0" indent="0" algn="ctr">
              <a:lnSpc>
                <a:spcPct val="104000"/>
              </a:lnSpc>
              <a:buNone/>
            </a:pPr>
            <a:r>
              <a:rPr lang="en-US" sz="700" dirty="0">
                <a:solidFill>
                  <a:srgbClr val="4C4C4D"/>
                </a:solidFill>
                <a:latin typeface="Crimson Pro SemiBold" pitchFamily="34" charset="0"/>
                <a:ea typeface="Crimson Pro SemiBold" pitchFamily="34" charset="-122"/>
                <a:cs typeface="Crimson Pro SemiBold" pitchFamily="34" charset="-120"/>
              </a:rPr>
              <a:t>Interaction Analysis</a:t>
            </a:r>
            <a:endParaRPr lang="en-US" sz="700" dirty="0"/>
          </a:p>
        </p:txBody>
      </p:sp>
      <p:sp>
        <p:nvSpPr>
          <p:cNvPr id="12" name="Text 9"/>
          <p:cNvSpPr/>
          <p:nvPr/>
        </p:nvSpPr>
        <p:spPr>
          <a:xfrm>
            <a:off x="7144919" y="2850840"/>
            <a:ext cx="595133" cy="229289"/>
          </a:xfrm>
          <a:prstGeom prst="rect">
            <a:avLst/>
          </a:prstGeom>
          <a:noFill/>
          <a:ln/>
        </p:spPr>
        <p:txBody>
          <a:bodyPr wrap="square" lIns="0" tIns="0" rIns="0" bIns="0" rtlCol="0" anchor="t">
            <a:normAutofit/>
          </a:bodyPr>
          <a:lstStyle/>
          <a:p>
            <a:pPr marL="0" indent="0" algn="ctr">
              <a:lnSpc>
                <a:spcPct val="104000"/>
              </a:lnSpc>
              <a:buNone/>
            </a:pPr>
            <a:r>
              <a:rPr lang="en-US" sz="700" dirty="0">
                <a:solidFill>
                  <a:srgbClr val="4C4C4D"/>
                </a:solidFill>
                <a:latin typeface="Crimson Pro SemiBold" pitchFamily="34" charset="0"/>
                <a:ea typeface="Crimson Pro SemiBold" pitchFamily="34" charset="-122"/>
                <a:cs typeface="Crimson Pro SemiBold" pitchFamily="34" charset="-120"/>
              </a:rPr>
              <a:t>Regression Modelling</a:t>
            </a:r>
            <a:endParaRPr lang="en-US" sz="700" dirty="0"/>
          </a:p>
        </p:txBody>
      </p:sp>
      <p:sp>
        <p:nvSpPr>
          <p:cNvPr id="13" name="Text 10"/>
          <p:cNvSpPr/>
          <p:nvPr/>
        </p:nvSpPr>
        <p:spPr>
          <a:xfrm>
            <a:off x="6398964" y="2850840"/>
            <a:ext cx="595133" cy="229289"/>
          </a:xfrm>
          <a:prstGeom prst="rect">
            <a:avLst/>
          </a:prstGeom>
          <a:noFill/>
          <a:ln/>
        </p:spPr>
        <p:txBody>
          <a:bodyPr wrap="square" lIns="0" tIns="0" rIns="0" bIns="0" rtlCol="0" anchor="t">
            <a:normAutofit/>
          </a:bodyPr>
          <a:lstStyle/>
          <a:p>
            <a:pPr marL="0" indent="0" algn="ctr">
              <a:lnSpc>
                <a:spcPct val="104000"/>
              </a:lnSpc>
              <a:buNone/>
            </a:pPr>
            <a:r>
              <a:rPr lang="en-US" sz="700" dirty="0">
                <a:solidFill>
                  <a:srgbClr val="4C4C4D"/>
                </a:solidFill>
                <a:latin typeface="Crimson Pro SemiBold" pitchFamily="34" charset="0"/>
                <a:ea typeface="Crimson Pro SemiBold" pitchFamily="34" charset="-122"/>
                <a:cs typeface="Crimson Pro SemiBold" pitchFamily="34" charset="-120"/>
              </a:rPr>
              <a:t>Exploratory Analysis</a:t>
            </a:r>
            <a:endParaRPr lang="en-US" sz="700" dirty="0"/>
          </a:p>
        </p:txBody>
      </p:sp>
      <p:sp>
        <p:nvSpPr>
          <p:cNvPr id="14" name="Text 11"/>
          <p:cNvSpPr/>
          <p:nvPr/>
        </p:nvSpPr>
        <p:spPr>
          <a:xfrm>
            <a:off x="5653010" y="2850840"/>
            <a:ext cx="595133" cy="229289"/>
          </a:xfrm>
          <a:prstGeom prst="rect">
            <a:avLst/>
          </a:prstGeom>
          <a:noFill/>
          <a:ln/>
        </p:spPr>
        <p:txBody>
          <a:bodyPr wrap="square" lIns="0" tIns="0" rIns="0" bIns="0" rtlCol="0" anchor="t">
            <a:normAutofit/>
          </a:bodyPr>
          <a:lstStyle/>
          <a:p>
            <a:pPr marL="0" indent="0" algn="ctr">
              <a:lnSpc>
                <a:spcPct val="104000"/>
              </a:lnSpc>
              <a:buNone/>
            </a:pPr>
            <a:r>
              <a:rPr lang="en-US" sz="700" dirty="0">
                <a:solidFill>
                  <a:srgbClr val="4C4C4D"/>
                </a:solidFill>
                <a:latin typeface="Crimson Pro SemiBold" pitchFamily="34" charset="0"/>
                <a:ea typeface="Crimson Pro SemiBold" pitchFamily="34" charset="-122"/>
                <a:cs typeface="Crimson Pro SemiBold" pitchFamily="34" charset="-120"/>
              </a:rPr>
              <a:t>Quality Assurance</a:t>
            </a:r>
            <a:endParaRPr lang="en-US" sz="700" dirty="0"/>
          </a:p>
        </p:txBody>
      </p:sp>
      <p:sp>
        <p:nvSpPr>
          <p:cNvPr id="15" name="Text 12"/>
          <p:cNvSpPr/>
          <p:nvPr/>
        </p:nvSpPr>
        <p:spPr>
          <a:xfrm>
            <a:off x="4890750" y="2850840"/>
            <a:ext cx="595133" cy="229289"/>
          </a:xfrm>
          <a:prstGeom prst="rect">
            <a:avLst/>
          </a:prstGeom>
          <a:noFill/>
          <a:ln/>
        </p:spPr>
        <p:txBody>
          <a:bodyPr wrap="square" lIns="0" tIns="0" rIns="0" bIns="0" rtlCol="0" anchor="t">
            <a:normAutofit/>
          </a:bodyPr>
          <a:lstStyle/>
          <a:p>
            <a:pPr marL="0" indent="0" algn="ctr">
              <a:lnSpc>
                <a:spcPct val="104000"/>
              </a:lnSpc>
              <a:buNone/>
            </a:pPr>
            <a:r>
              <a:rPr lang="en-US" sz="700" dirty="0">
                <a:solidFill>
                  <a:srgbClr val="4C4C4D"/>
                </a:solidFill>
                <a:latin typeface="Crimson Pro SemiBold" pitchFamily="34" charset="0"/>
                <a:ea typeface="Crimson Pro SemiBold" pitchFamily="34" charset="-122"/>
                <a:cs typeface="Crimson Pro SemiBold" pitchFamily="34" charset="-120"/>
              </a:rPr>
              <a:t>Data Extraction</a:t>
            </a:r>
            <a:endParaRPr lang="en-US" sz="700" dirty="0"/>
          </a:p>
        </p:txBody>
      </p:sp>
      <p:sp>
        <p:nvSpPr>
          <p:cNvPr id="16" name="Shape 13"/>
          <p:cNvSpPr/>
          <p:nvPr/>
        </p:nvSpPr>
        <p:spPr>
          <a:xfrm>
            <a:off x="496119" y="3473574"/>
            <a:ext cx="2656136" cy="1321668"/>
          </a:xfrm>
          <a:prstGeom prst="roundRect">
            <a:avLst>
              <a:gd name="adj" fmla="val 1210"/>
            </a:avLst>
          </a:prstGeom>
          <a:solidFill>
            <a:srgbClr val="F2EEEE"/>
          </a:solidFill>
          <a:ln/>
        </p:spPr>
      </p:sp>
      <p:sp>
        <p:nvSpPr>
          <p:cNvPr id="17" name="Shape 14"/>
          <p:cNvSpPr/>
          <p:nvPr/>
        </p:nvSpPr>
        <p:spPr>
          <a:xfrm>
            <a:off x="602679" y="3580135"/>
            <a:ext cx="319757" cy="319757"/>
          </a:xfrm>
          <a:prstGeom prst="ellipse">
            <a:avLst/>
          </a:prstGeom>
          <a:solidFill>
            <a:srgbClr val="2150FE"/>
          </a:solidFill>
          <a:ln/>
        </p:spPr>
      </p:sp>
      <p:pic>
        <p:nvPicPr>
          <p:cNvPr id="18" name="Image 1" descr="preencoded.png"/>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690637" y="3668092"/>
            <a:ext cx="143842" cy="143842"/>
          </a:xfrm>
          <a:prstGeom prst="rect">
            <a:avLst/>
          </a:prstGeom>
        </p:spPr>
      </p:pic>
      <p:sp>
        <p:nvSpPr>
          <p:cNvPr id="19" name="Text 15"/>
          <p:cNvSpPr/>
          <p:nvPr/>
        </p:nvSpPr>
        <p:spPr>
          <a:xfrm>
            <a:off x="602679" y="3991496"/>
            <a:ext cx="2443014" cy="166539"/>
          </a:xfrm>
          <a:prstGeom prst="rect">
            <a:avLst/>
          </a:prstGeom>
          <a:noFill/>
          <a:ln/>
        </p:spPr>
        <p:txBody>
          <a:bodyPr wrap="none" lIns="0" tIns="0" rIns="0" bIns="0" rtlCol="0" anchor="t"/>
          <a:lstStyle/>
          <a:p>
            <a:pPr marL="0" indent="0" algn="l">
              <a:lnSpc>
                <a:spcPct val="104000"/>
              </a:lnSpc>
              <a:buNone/>
            </a:pPr>
            <a:r>
              <a:rPr lang="en-US" sz="1000" dirty="0">
                <a:solidFill>
                  <a:srgbClr val="4C4C4D"/>
                </a:solidFill>
                <a:latin typeface="Crimson Pro SemiBold" pitchFamily="34" charset="0"/>
                <a:ea typeface="Crimson Pro SemiBold" pitchFamily="34" charset="-122"/>
                <a:cs typeface="Crimson Pro SemiBold" pitchFamily="34" charset="-120"/>
              </a:rPr>
              <a:t>Customer Reliability</a:t>
            </a:r>
            <a:endParaRPr lang="en-US" sz="1000" dirty="0"/>
          </a:p>
        </p:txBody>
      </p:sp>
      <p:sp>
        <p:nvSpPr>
          <p:cNvPr id="20" name="Text 16"/>
          <p:cNvSpPr/>
          <p:nvPr/>
        </p:nvSpPr>
        <p:spPr>
          <a:xfrm>
            <a:off x="602679" y="4212952"/>
            <a:ext cx="2443014" cy="475729"/>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4C4C4D"/>
                </a:solidFill>
                <a:latin typeface="Heebo" pitchFamily="34" charset="0"/>
                <a:ea typeface="Heebo" pitchFamily="34" charset="-122"/>
                <a:cs typeface="Heebo" pitchFamily="34" charset="-120"/>
              </a:rPr>
              <a:t>Quantify how often and under what conditions customers are at risk of receiving below-threshold pressure</a:t>
            </a:r>
            <a:endParaRPr lang="en-US" sz="800" dirty="0"/>
          </a:p>
        </p:txBody>
      </p:sp>
      <p:sp>
        <p:nvSpPr>
          <p:cNvPr id="21" name="Shape 17"/>
          <p:cNvSpPr/>
          <p:nvPr/>
        </p:nvSpPr>
        <p:spPr>
          <a:xfrm>
            <a:off x="3243858" y="3473574"/>
            <a:ext cx="2656210" cy="1321668"/>
          </a:xfrm>
          <a:prstGeom prst="roundRect">
            <a:avLst>
              <a:gd name="adj" fmla="val 1210"/>
            </a:avLst>
          </a:prstGeom>
          <a:solidFill>
            <a:srgbClr val="F2EEEE"/>
          </a:solidFill>
          <a:ln/>
        </p:spPr>
      </p:sp>
      <p:sp>
        <p:nvSpPr>
          <p:cNvPr id="22" name="Shape 18"/>
          <p:cNvSpPr/>
          <p:nvPr/>
        </p:nvSpPr>
        <p:spPr>
          <a:xfrm>
            <a:off x="3350419" y="3580135"/>
            <a:ext cx="319757" cy="319757"/>
          </a:xfrm>
          <a:prstGeom prst="ellipse">
            <a:avLst/>
          </a:prstGeom>
          <a:solidFill>
            <a:srgbClr val="2150FE"/>
          </a:solidFill>
          <a:ln/>
        </p:spPr>
      </p:sp>
      <p:pic>
        <p:nvPicPr>
          <p:cNvPr id="23" name="Image 2" descr="preencoded.png"/>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3438376" y="3668092"/>
            <a:ext cx="143842" cy="143842"/>
          </a:xfrm>
          <a:prstGeom prst="rect">
            <a:avLst/>
          </a:prstGeom>
        </p:spPr>
      </p:pic>
      <p:sp>
        <p:nvSpPr>
          <p:cNvPr id="24" name="Text 19"/>
          <p:cNvSpPr/>
          <p:nvPr/>
        </p:nvSpPr>
        <p:spPr>
          <a:xfrm>
            <a:off x="3350419" y="3991496"/>
            <a:ext cx="2443088" cy="166539"/>
          </a:xfrm>
          <a:prstGeom prst="rect">
            <a:avLst/>
          </a:prstGeom>
          <a:noFill/>
          <a:ln/>
        </p:spPr>
        <p:txBody>
          <a:bodyPr wrap="none" lIns="0" tIns="0" rIns="0" bIns="0" rtlCol="0" anchor="t"/>
          <a:lstStyle/>
          <a:p>
            <a:pPr marL="0" indent="0" algn="l">
              <a:lnSpc>
                <a:spcPct val="104000"/>
              </a:lnSpc>
              <a:buNone/>
            </a:pPr>
            <a:r>
              <a:rPr lang="en-US" sz="1000" dirty="0">
                <a:solidFill>
                  <a:srgbClr val="4C4C4D"/>
                </a:solidFill>
                <a:latin typeface="Crimson Pro SemiBold" pitchFamily="34" charset="0"/>
                <a:ea typeface="Crimson Pro SemiBold" pitchFamily="34" charset="-122"/>
                <a:cs typeface="Crimson Pro SemiBold" pitchFamily="34" charset="-120"/>
              </a:rPr>
              <a:t>Operational Decision-Making</a:t>
            </a:r>
            <a:endParaRPr lang="en-US" sz="1000" dirty="0"/>
          </a:p>
        </p:txBody>
      </p:sp>
      <p:sp>
        <p:nvSpPr>
          <p:cNvPr id="25" name="Text 20"/>
          <p:cNvSpPr/>
          <p:nvPr/>
        </p:nvSpPr>
        <p:spPr>
          <a:xfrm>
            <a:off x="3350419" y="4212952"/>
            <a:ext cx="2443088"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4C4C4D"/>
                </a:solidFill>
                <a:latin typeface="Heebo" pitchFamily="34" charset="0"/>
                <a:ea typeface="Heebo" pitchFamily="34" charset="-122"/>
                <a:cs typeface="Heebo" pitchFamily="34" charset="-120"/>
              </a:rPr>
              <a:t>Identify controllable levers — output pressure, plant dispatch — that can reduce upset frequency</a:t>
            </a:r>
            <a:endParaRPr lang="en-US" sz="800" dirty="0"/>
          </a:p>
        </p:txBody>
      </p:sp>
      <p:sp>
        <p:nvSpPr>
          <p:cNvPr id="26" name="Shape 21"/>
          <p:cNvSpPr/>
          <p:nvPr/>
        </p:nvSpPr>
        <p:spPr>
          <a:xfrm>
            <a:off x="5991671" y="3473574"/>
            <a:ext cx="2656210" cy="1321668"/>
          </a:xfrm>
          <a:prstGeom prst="roundRect">
            <a:avLst>
              <a:gd name="adj" fmla="val 1210"/>
            </a:avLst>
          </a:prstGeom>
          <a:solidFill>
            <a:srgbClr val="F2EEEE"/>
          </a:solidFill>
          <a:ln/>
        </p:spPr>
      </p:sp>
      <p:sp>
        <p:nvSpPr>
          <p:cNvPr id="27" name="Shape 22"/>
          <p:cNvSpPr/>
          <p:nvPr/>
        </p:nvSpPr>
        <p:spPr>
          <a:xfrm>
            <a:off x="6098232" y="3580135"/>
            <a:ext cx="319757" cy="319757"/>
          </a:xfrm>
          <a:prstGeom prst="ellipse">
            <a:avLst/>
          </a:prstGeom>
          <a:solidFill>
            <a:srgbClr val="2150FE"/>
          </a:solidFill>
          <a:ln/>
        </p:spPr>
      </p:sp>
      <p:pic>
        <p:nvPicPr>
          <p:cNvPr id="28" name="Image 3" descr="preencoded.png"/>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6186190" y="3668092"/>
            <a:ext cx="143842" cy="143842"/>
          </a:xfrm>
          <a:prstGeom prst="rect">
            <a:avLst/>
          </a:prstGeom>
        </p:spPr>
      </p:pic>
      <p:sp>
        <p:nvSpPr>
          <p:cNvPr id="29" name="Text 23"/>
          <p:cNvSpPr/>
          <p:nvPr/>
        </p:nvSpPr>
        <p:spPr>
          <a:xfrm>
            <a:off x="6098232" y="3991496"/>
            <a:ext cx="2443088" cy="166539"/>
          </a:xfrm>
          <a:prstGeom prst="rect">
            <a:avLst/>
          </a:prstGeom>
          <a:noFill/>
          <a:ln/>
        </p:spPr>
        <p:txBody>
          <a:bodyPr wrap="none" lIns="0" tIns="0" rIns="0" bIns="0" rtlCol="0" anchor="t"/>
          <a:lstStyle/>
          <a:p>
            <a:pPr marL="0" indent="0" algn="l">
              <a:lnSpc>
                <a:spcPct val="104000"/>
              </a:lnSpc>
              <a:buNone/>
            </a:pPr>
            <a:r>
              <a:rPr lang="en-US" sz="1000" dirty="0">
                <a:solidFill>
                  <a:srgbClr val="4C4C4D"/>
                </a:solidFill>
                <a:latin typeface="Crimson Pro SemiBold" pitchFamily="34" charset="0"/>
                <a:ea typeface="Crimson Pro SemiBold" pitchFamily="34" charset="-122"/>
                <a:cs typeface="Crimson Pro SemiBold" pitchFamily="34" charset="-120"/>
              </a:rPr>
              <a:t>Proactive Operations</a:t>
            </a:r>
            <a:endParaRPr lang="en-US" sz="1000" dirty="0"/>
          </a:p>
        </p:txBody>
      </p:sp>
      <p:sp>
        <p:nvSpPr>
          <p:cNvPr id="30" name="Text 24"/>
          <p:cNvSpPr/>
          <p:nvPr/>
        </p:nvSpPr>
        <p:spPr>
          <a:xfrm>
            <a:off x="6098232" y="4212952"/>
            <a:ext cx="2443088"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4C4C4D"/>
                </a:solidFill>
                <a:latin typeface="Heebo" pitchFamily="34" charset="0"/>
                <a:ea typeface="Heebo" pitchFamily="34" charset="-122"/>
                <a:cs typeface="Heebo" pitchFamily="34" charset="-120"/>
              </a:rPr>
              <a:t>Enable weather-informed, demand-aware risk monitoring before upsets occur — not after</a:t>
            </a:r>
            <a:endParaRPr lang="en-US" sz="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477738"/>
            <a:ext cx="783059" cy="144214"/>
          </a:xfrm>
          <a:prstGeom prst="roundRect">
            <a:avLst>
              <a:gd name="adj" fmla="val 7903"/>
            </a:avLst>
          </a:prstGeom>
          <a:solidFill>
            <a:srgbClr val="CCD7FF"/>
          </a:solidFill>
          <a:ln/>
        </p:spPr>
      </p:sp>
      <p:sp>
        <p:nvSpPr>
          <p:cNvPr id="3" name="Text 1"/>
          <p:cNvSpPr/>
          <p:nvPr/>
        </p:nvSpPr>
        <p:spPr>
          <a:xfrm>
            <a:off x="553045" y="506164"/>
            <a:ext cx="1126406" cy="87362"/>
          </a:xfrm>
          <a:prstGeom prst="rect">
            <a:avLst/>
          </a:prstGeom>
          <a:noFill/>
          <a:ln/>
        </p:spPr>
        <p:txBody>
          <a:bodyPr wrap="none" lIns="0" tIns="0" rIns="0" bIns="0" rtlCol="0" anchor="t"/>
          <a:lstStyle/>
          <a:p>
            <a:pPr marL="0" indent="0" algn="l">
              <a:lnSpc>
                <a:spcPct val="96000"/>
              </a:lnSpc>
              <a:buNone/>
            </a:pPr>
            <a:r>
              <a:rPr lang="en-US" sz="550" dirty="0">
                <a:solidFill>
                  <a:srgbClr val="4C4C4D"/>
                </a:solidFill>
                <a:latin typeface="Heebo" pitchFamily="34" charset="0"/>
                <a:ea typeface="Heebo" pitchFamily="34" charset="-122"/>
                <a:cs typeface="Heebo" pitchFamily="34" charset="-120"/>
              </a:rPr>
              <a:t>DATA FOUNDATION</a:t>
            </a:r>
            <a:endParaRPr lang="en-US" sz="550" dirty="0"/>
          </a:p>
        </p:txBody>
      </p:sp>
      <p:sp>
        <p:nvSpPr>
          <p:cNvPr id="4" name="Text 2"/>
          <p:cNvSpPr/>
          <p:nvPr/>
        </p:nvSpPr>
        <p:spPr>
          <a:xfrm>
            <a:off x="496119" y="650974"/>
            <a:ext cx="8151763" cy="296763"/>
          </a:xfrm>
          <a:prstGeom prst="rect">
            <a:avLst/>
          </a:prstGeom>
          <a:noFill/>
          <a:ln/>
        </p:spPr>
        <p:txBody>
          <a:bodyPr wrap="none" lIns="0" tIns="0" rIns="0" bIns="0" rtlCol="0" anchor="t"/>
          <a:lstStyle/>
          <a:p>
            <a:pPr>
              <a:lnSpc>
                <a:spcPct val="104000"/>
              </a:lnSpc>
            </a:pPr>
            <a:r>
              <a:rPr lang="en-US" sz="1850" dirty="0" smtClean="0">
                <a:solidFill>
                  <a:srgbClr val="152D47"/>
                </a:solidFill>
                <a:latin typeface="Crimson Pro SemiBold" pitchFamily="34" charset="0"/>
                <a:ea typeface="Crimson Pro SemiBold" pitchFamily="34" charset="-122"/>
                <a:cs typeface="Crimson Pro SemiBold" pitchFamily="34" charset="-120"/>
              </a:rPr>
              <a:t>Building </a:t>
            </a:r>
            <a:r>
              <a:rPr lang="en-US" sz="1850" dirty="0">
                <a:solidFill>
                  <a:srgbClr val="152D47"/>
                </a:solidFill>
                <a:latin typeface="Crimson Pro SemiBold" pitchFamily="34" charset="0"/>
                <a:ea typeface="Crimson Pro SemiBold" pitchFamily="34" charset="-122"/>
                <a:cs typeface="Crimson Pro SemiBold" pitchFamily="34" charset="-120"/>
              </a:rPr>
              <a:t>Confidence in the Analysis</a:t>
            </a:r>
          </a:p>
        </p:txBody>
      </p:sp>
      <p:sp>
        <p:nvSpPr>
          <p:cNvPr id="5" name="Text 3"/>
          <p:cNvSpPr/>
          <p:nvPr/>
        </p:nvSpPr>
        <p:spPr>
          <a:xfrm>
            <a:off x="496119" y="1129457"/>
            <a:ext cx="3960019" cy="148307"/>
          </a:xfrm>
          <a:prstGeom prst="rect">
            <a:avLst/>
          </a:prstGeom>
          <a:noFill/>
          <a:ln/>
        </p:spPr>
        <p:txBody>
          <a:bodyPr wrap="none" lIns="0" tIns="0" rIns="0" bIns="0" rtlCol="0" anchor="t"/>
          <a:lstStyle/>
          <a:p>
            <a:pPr marL="0" indent="0" algn="l">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Dataset Summary</a:t>
            </a:r>
            <a:endParaRPr lang="en-US" sz="900" dirty="0"/>
          </a:p>
        </p:txBody>
      </p:sp>
      <p:sp>
        <p:nvSpPr>
          <p:cNvPr id="6" name="Text 4"/>
          <p:cNvSpPr/>
          <p:nvPr/>
        </p:nvSpPr>
        <p:spPr>
          <a:xfrm>
            <a:off x="496120" y="1350466"/>
            <a:ext cx="3534014" cy="536377"/>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4C4C4D"/>
                </a:solidFill>
                <a:latin typeface="Heebo" pitchFamily="34" charset="0"/>
                <a:ea typeface="Heebo" pitchFamily="34" charset="-122"/>
                <a:cs typeface="Heebo" pitchFamily="34" charset="-120"/>
              </a:rPr>
              <a:t>4,032 operational observations at five-minute interval resolution over the two-week operating period (July 1–15, 2026). </a:t>
            </a:r>
            <a:r>
              <a:rPr lang="en-US" sz="700" dirty="0" smtClean="0">
                <a:solidFill>
                  <a:srgbClr val="4C4C4D"/>
                </a:solidFill>
                <a:latin typeface="Heebo" pitchFamily="34" charset="0"/>
                <a:ea typeface="Heebo" pitchFamily="34" charset="-122"/>
                <a:cs typeface="Heebo" pitchFamily="34" charset="-120"/>
              </a:rPr>
              <a:t>336 Hourly </a:t>
            </a:r>
            <a:r>
              <a:rPr lang="en-US" sz="700" dirty="0">
                <a:solidFill>
                  <a:srgbClr val="4C4C4D"/>
                </a:solidFill>
                <a:latin typeface="Heebo" pitchFamily="34" charset="0"/>
                <a:ea typeface="Heebo" pitchFamily="34" charset="-122"/>
                <a:cs typeface="Heebo" pitchFamily="34" charset="-120"/>
              </a:rPr>
              <a:t>weather data — </a:t>
            </a:r>
            <a:r>
              <a:rPr lang="en-US" sz="700" dirty="0" smtClean="0">
                <a:solidFill>
                  <a:srgbClr val="4C4C4D"/>
                </a:solidFill>
                <a:latin typeface="Heebo" pitchFamily="34" charset="0"/>
                <a:ea typeface="Heebo" pitchFamily="34" charset="-122"/>
                <a:cs typeface="Heebo" pitchFamily="34" charset="-120"/>
              </a:rPr>
              <a:t>Humidex — </a:t>
            </a:r>
            <a:r>
              <a:rPr lang="en-US" sz="700" dirty="0">
                <a:solidFill>
                  <a:srgbClr val="4C4C4D"/>
                </a:solidFill>
                <a:latin typeface="Heebo" pitchFamily="34" charset="0"/>
                <a:ea typeface="Heebo" pitchFamily="34" charset="-122"/>
                <a:cs typeface="Heebo" pitchFamily="34" charset="-120"/>
              </a:rPr>
              <a:t>was aligned to operational timestamps. Nine predictor variables including plant output, system flow, temperatures, and time-of-day features were prepared for modelling.</a:t>
            </a:r>
            <a:endParaRPr lang="en-US" sz="700" dirty="0"/>
          </a:p>
        </p:txBody>
      </p:sp>
      <p:sp>
        <p:nvSpPr>
          <p:cNvPr id="7" name="Shape 5"/>
          <p:cNvSpPr/>
          <p:nvPr/>
        </p:nvSpPr>
        <p:spPr>
          <a:xfrm>
            <a:off x="496119" y="1992362"/>
            <a:ext cx="3960019" cy="9525"/>
          </a:xfrm>
          <a:prstGeom prst="roundRect">
            <a:avLst>
              <a:gd name="adj" fmla="val 60000"/>
            </a:avLst>
          </a:prstGeom>
          <a:solidFill>
            <a:srgbClr val="4C4C4D">
              <a:alpha val="50000"/>
            </a:srgbClr>
          </a:solidFill>
          <a:ln/>
        </p:spPr>
      </p:sp>
      <p:sp>
        <p:nvSpPr>
          <p:cNvPr id="8" name="Text 6"/>
          <p:cNvSpPr/>
          <p:nvPr/>
        </p:nvSpPr>
        <p:spPr>
          <a:xfrm>
            <a:off x="496119" y="2107406"/>
            <a:ext cx="3960019" cy="148307"/>
          </a:xfrm>
          <a:prstGeom prst="rect">
            <a:avLst/>
          </a:prstGeom>
          <a:noFill/>
          <a:ln/>
        </p:spPr>
        <p:txBody>
          <a:bodyPr wrap="none" lIns="0" tIns="0" rIns="0" bIns="0" rtlCol="0" anchor="t"/>
          <a:lstStyle/>
          <a:p>
            <a:pPr marL="0" indent="0" algn="l">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Data Quality Checks</a:t>
            </a:r>
            <a:endParaRPr lang="en-US" sz="900" dirty="0"/>
          </a:p>
        </p:txBody>
      </p:sp>
      <p:pic>
        <p:nvPicPr>
          <p:cNvPr id="9"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496119" y="2337495"/>
            <a:ext cx="1943621" cy="343049"/>
          </a:xfrm>
          <a:prstGeom prst="rect">
            <a:avLst/>
          </a:prstGeom>
        </p:spPr>
      </p:pic>
      <p:sp>
        <p:nvSpPr>
          <p:cNvPr id="10" name="Text 7"/>
          <p:cNvSpPr/>
          <p:nvPr/>
        </p:nvSpPr>
        <p:spPr>
          <a:xfrm>
            <a:off x="638696" y="2441972"/>
            <a:ext cx="1696566" cy="134094"/>
          </a:xfrm>
          <a:prstGeom prst="rect">
            <a:avLst/>
          </a:prstGeom>
          <a:noFill/>
          <a:ln/>
        </p:spPr>
        <p:txBody>
          <a:bodyPr wrap="none" lIns="0" tIns="0" rIns="0" bIns="0" rtlCol="0" anchor="t"/>
          <a:lstStyle/>
          <a:p>
            <a:pPr marL="0" indent="0" algn="l">
              <a:lnSpc>
                <a:spcPct val="118000"/>
              </a:lnSpc>
              <a:buNone/>
            </a:pPr>
            <a:r>
              <a:rPr lang="en-US" sz="700" dirty="0">
                <a:solidFill>
                  <a:srgbClr val="4C4C4D"/>
                </a:solidFill>
                <a:latin typeface="Heebo" pitchFamily="34" charset="0"/>
                <a:ea typeface="Heebo" pitchFamily="34" charset="-122"/>
                <a:cs typeface="Heebo" pitchFamily="34" charset="-120"/>
              </a:rPr>
              <a:t>✓ No duplicate timestamps identified</a:t>
            </a:r>
            <a:endParaRPr lang="en-US" sz="700" dirty="0"/>
          </a:p>
        </p:txBody>
      </p:sp>
      <p:pic>
        <p:nvPicPr>
          <p:cNvPr id="11" name="Image 1" descr="preencoded.png"/>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2512442" y="2337495"/>
            <a:ext cx="1943695" cy="343049"/>
          </a:xfrm>
          <a:prstGeom prst="rect">
            <a:avLst/>
          </a:prstGeom>
        </p:spPr>
      </p:pic>
      <p:sp>
        <p:nvSpPr>
          <p:cNvPr id="12" name="Text 8"/>
          <p:cNvSpPr/>
          <p:nvPr/>
        </p:nvSpPr>
        <p:spPr>
          <a:xfrm>
            <a:off x="2655019" y="2441972"/>
            <a:ext cx="1696641" cy="134094"/>
          </a:xfrm>
          <a:prstGeom prst="rect">
            <a:avLst/>
          </a:prstGeom>
          <a:noFill/>
          <a:ln/>
        </p:spPr>
        <p:txBody>
          <a:bodyPr wrap="none" lIns="0" tIns="0" rIns="0" bIns="0" rtlCol="0" anchor="t"/>
          <a:lstStyle/>
          <a:p>
            <a:pPr marL="0" indent="0" algn="l">
              <a:lnSpc>
                <a:spcPct val="118000"/>
              </a:lnSpc>
              <a:buNone/>
            </a:pPr>
            <a:r>
              <a:rPr lang="en-US" sz="700" dirty="0">
                <a:solidFill>
                  <a:srgbClr val="4C4C4D"/>
                </a:solidFill>
                <a:latin typeface="Heebo" pitchFamily="34" charset="0"/>
                <a:ea typeface="Heebo" pitchFamily="34" charset="-122"/>
                <a:cs typeface="Heebo" pitchFamily="34" charset="-120"/>
              </a:rPr>
              <a:t>✓ No duplicate observations confirmed</a:t>
            </a:r>
            <a:endParaRPr lang="en-US" sz="700" dirty="0"/>
          </a:p>
        </p:txBody>
      </p:sp>
      <p:pic>
        <p:nvPicPr>
          <p:cNvPr id="13" name="Image 2" descr="preencoded.png"/>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496119" y="2753246"/>
            <a:ext cx="1943621" cy="538683"/>
          </a:xfrm>
          <a:prstGeom prst="rect">
            <a:avLst/>
          </a:prstGeom>
        </p:spPr>
      </p:pic>
      <p:sp>
        <p:nvSpPr>
          <p:cNvPr id="14" name="Text 9"/>
          <p:cNvSpPr/>
          <p:nvPr/>
        </p:nvSpPr>
        <p:spPr>
          <a:xfrm>
            <a:off x="638696" y="2857723"/>
            <a:ext cx="1696566" cy="268188"/>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4C4C4D"/>
                </a:solidFill>
                <a:latin typeface="Heebo" pitchFamily="34" charset="0"/>
                <a:ea typeface="Heebo" pitchFamily="34" charset="-122"/>
                <a:cs typeface="Heebo" pitchFamily="34" charset="-120"/>
              </a:rPr>
              <a:t>✓ Weather data successfully aligned to operational records</a:t>
            </a:r>
            <a:endParaRPr lang="en-US" sz="700" dirty="0"/>
          </a:p>
        </p:txBody>
      </p:sp>
      <p:pic>
        <p:nvPicPr>
          <p:cNvPr id="15" name="Image 3" descr="preencoded.png"/>
          <p:cNvPicPr>
            <a:picLocks noChangeAspect="1"/>
          </p:cNvPicPr>
          <p:nvPr/>
        </p:nvPicPr>
        <p:blipFill>
          <a:blip r:embed="rId6">
            <a:extLst>
              <a:ext uri="{96DAC541-7B7A-43D3-8B79-37D633B846F1}">
                <asvg:svgBlip xmlns="" xmlns:asvg="http://schemas.microsoft.com/office/drawing/2016/SVG/main" r:embed="rId8"/>
              </a:ext>
            </a:extLst>
          </a:blip>
          <a:stretch>
            <a:fillRect/>
          </a:stretch>
        </p:blipFill>
        <p:spPr>
          <a:xfrm>
            <a:off x="2512442" y="2753246"/>
            <a:ext cx="1943695" cy="611237"/>
          </a:xfrm>
          <a:prstGeom prst="rect">
            <a:avLst/>
          </a:prstGeom>
        </p:spPr>
      </p:pic>
      <p:sp>
        <p:nvSpPr>
          <p:cNvPr id="16" name="Text 10"/>
          <p:cNvSpPr/>
          <p:nvPr/>
        </p:nvSpPr>
        <p:spPr>
          <a:xfrm>
            <a:off x="2655019" y="2857723"/>
            <a:ext cx="1696641" cy="402282"/>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4C4C4D"/>
                </a:solidFill>
                <a:latin typeface="Heebo" pitchFamily="34" charset="0"/>
                <a:ea typeface="Heebo" pitchFamily="34" charset="-122"/>
                <a:cs typeface="Heebo" pitchFamily="34" charset="-120"/>
              </a:rPr>
              <a:t>✓ Feature engineering completed </a:t>
            </a:r>
            <a:r>
              <a:rPr lang="en-US" sz="700" dirty="0" smtClean="0">
                <a:solidFill>
                  <a:srgbClr val="4C4C4D"/>
                </a:solidFill>
                <a:latin typeface="Heebo" pitchFamily="34" charset="0"/>
                <a:ea typeface="Heebo" pitchFamily="34" charset="-122"/>
                <a:cs typeface="Heebo" pitchFamily="34" charset="-120"/>
              </a:rPr>
              <a:t>—like hourly timestamp, temperature_delta_f</a:t>
            </a:r>
            <a:endParaRPr lang="en-US" sz="700" dirty="0"/>
          </a:p>
        </p:txBody>
      </p:sp>
      <p:pic>
        <p:nvPicPr>
          <p:cNvPr id="17" name="Image 4" descr="preencoded.png"/>
          <p:cNvPicPr>
            <a:picLocks noChangeAspect="1"/>
          </p:cNvPicPr>
          <p:nvPr/>
        </p:nvPicPr>
        <p:blipFill>
          <a:blip r:embed="rId9">
            <a:extLst>
              <a:ext uri="{96DAC541-7B7A-43D3-8B79-37D633B846F1}">
                <asvg:svgBlip xmlns="" xmlns:asvg="http://schemas.microsoft.com/office/drawing/2016/SVG/main" r:embed="rId10"/>
              </a:ext>
            </a:extLst>
          </a:blip>
          <a:stretch>
            <a:fillRect/>
          </a:stretch>
        </p:blipFill>
        <p:spPr>
          <a:xfrm>
            <a:off x="496119" y="3388370"/>
            <a:ext cx="1943621" cy="868561"/>
          </a:xfrm>
          <a:prstGeom prst="rect">
            <a:avLst/>
          </a:prstGeom>
        </p:spPr>
      </p:pic>
      <p:sp>
        <p:nvSpPr>
          <p:cNvPr id="18" name="Text 11"/>
          <p:cNvSpPr/>
          <p:nvPr/>
        </p:nvSpPr>
        <p:spPr>
          <a:xfrm>
            <a:off x="619646" y="3471281"/>
            <a:ext cx="1696566" cy="719658"/>
          </a:xfrm>
          <a:prstGeom prst="rect">
            <a:avLst/>
          </a:prstGeom>
          <a:noFill/>
          <a:ln/>
        </p:spPr>
        <p:txBody>
          <a:bodyPr wrap="square" lIns="0" tIns="0" rIns="0" bIns="0" rtlCol="0" anchor="t">
            <a:noAutofit/>
          </a:bodyPr>
          <a:lstStyle/>
          <a:p>
            <a:pPr>
              <a:lnSpc>
                <a:spcPct val="118000"/>
              </a:lnSpc>
            </a:pPr>
            <a:r>
              <a:rPr lang="en-US" sz="700" dirty="0">
                <a:solidFill>
                  <a:srgbClr val="4C4C4D"/>
                </a:solidFill>
                <a:latin typeface="Heebo" pitchFamily="34" charset="0"/>
                <a:ea typeface="Heebo" pitchFamily="34" charset="-122"/>
                <a:cs typeface="Heebo" pitchFamily="34" charset="-120"/>
              </a:rPr>
              <a:t>✓ Negative Plant 2 readings represented periods when the plant was offline and were standardized to zero before modelling.</a:t>
            </a:r>
          </a:p>
        </p:txBody>
      </p:sp>
      <p:sp>
        <p:nvSpPr>
          <p:cNvPr id="22" name="Shape 14"/>
          <p:cNvSpPr/>
          <p:nvPr/>
        </p:nvSpPr>
        <p:spPr>
          <a:xfrm>
            <a:off x="496119" y="4761138"/>
            <a:ext cx="8151763" cy="319683"/>
          </a:xfrm>
          <a:prstGeom prst="roundRect">
            <a:avLst>
              <a:gd name="adj" fmla="val 4456"/>
            </a:avLst>
          </a:prstGeom>
          <a:solidFill>
            <a:srgbClr val="CCD7FF"/>
          </a:solidFill>
          <a:ln/>
        </p:spPr>
      </p:sp>
      <p:pic>
        <p:nvPicPr>
          <p:cNvPr id="23" name="Image 6" descr="preencoded.png"/>
          <p:cNvPicPr>
            <a:picLocks noChangeAspect="1"/>
          </p:cNvPicPr>
          <p:nvPr/>
        </p:nvPicPr>
        <p:blipFill>
          <a:blip r:embed="rId11"/>
          <a:stretch>
            <a:fillRect/>
          </a:stretch>
        </p:blipFill>
        <p:spPr>
          <a:xfrm>
            <a:off x="541501" y="4794633"/>
            <a:ext cx="118690" cy="94952"/>
          </a:xfrm>
          <a:prstGeom prst="rect">
            <a:avLst/>
          </a:prstGeom>
        </p:spPr>
      </p:pic>
      <p:sp>
        <p:nvSpPr>
          <p:cNvPr id="24" name="Text 15"/>
          <p:cNvSpPr/>
          <p:nvPr/>
        </p:nvSpPr>
        <p:spPr>
          <a:xfrm>
            <a:off x="705573" y="4843460"/>
            <a:ext cx="8205415" cy="134094"/>
          </a:xfrm>
          <a:prstGeom prst="rect">
            <a:avLst/>
          </a:prstGeom>
          <a:noFill/>
          <a:ln/>
        </p:spPr>
        <p:txBody>
          <a:bodyPr wrap="none" lIns="0" tIns="0" rIns="0" bIns="0" rtlCol="0" anchor="t"/>
          <a:lstStyle/>
          <a:p>
            <a:pPr marL="0" indent="0" algn="l">
              <a:lnSpc>
                <a:spcPct val="118000"/>
              </a:lnSpc>
              <a:buNone/>
            </a:pPr>
            <a:r>
              <a:rPr lang="en-US" sz="700" dirty="0">
                <a:solidFill>
                  <a:srgbClr val="000000"/>
                </a:solidFill>
                <a:latin typeface="Heebo" pitchFamily="34" charset="0"/>
                <a:ea typeface="Heebo" pitchFamily="34" charset="-122"/>
                <a:cs typeface="Heebo" pitchFamily="34" charset="-120"/>
              </a:rPr>
              <a:t>Data quality checks confirmed the dataset was analytically ready. No material issues were identified that would compromise the reliability of modelling results.</a:t>
            </a:r>
            <a:endParaRPr lang="en-US" sz="700" dirty="0"/>
          </a:p>
        </p:txBody>
      </p:sp>
      <p:pic>
        <p:nvPicPr>
          <p:cNvPr id="27" name="Picture 2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525661" y="149014"/>
            <a:ext cx="4179147" cy="2171218"/>
          </a:xfrm>
          <a:prstGeom prst="rect">
            <a:avLst/>
          </a:prstGeom>
        </p:spPr>
      </p:pic>
      <p:pic>
        <p:nvPicPr>
          <p:cNvPr id="28" name="Picture 2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572000" y="2507251"/>
            <a:ext cx="4375573" cy="192386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376461"/>
            <a:ext cx="746596" cy="120700"/>
          </a:xfrm>
          <a:prstGeom prst="roundRect">
            <a:avLst>
              <a:gd name="adj" fmla="val 7901"/>
            </a:avLst>
          </a:prstGeom>
          <a:solidFill>
            <a:srgbClr val="CCD7FF"/>
          </a:solidFill>
          <a:ln/>
        </p:spPr>
      </p:sp>
      <p:sp>
        <p:nvSpPr>
          <p:cNvPr id="3" name="Text 1"/>
          <p:cNvSpPr/>
          <p:nvPr/>
        </p:nvSpPr>
        <p:spPr>
          <a:xfrm>
            <a:off x="543744" y="400273"/>
            <a:ext cx="1108546" cy="73075"/>
          </a:xfrm>
          <a:prstGeom prst="rect">
            <a:avLst/>
          </a:prstGeom>
          <a:noFill/>
          <a:ln/>
        </p:spPr>
        <p:txBody>
          <a:bodyPr wrap="none" lIns="0" tIns="0" rIns="0" bIns="0" rtlCol="0" anchor="t"/>
          <a:lstStyle/>
          <a:p>
            <a:pPr marL="0" indent="0" algn="l">
              <a:lnSpc>
                <a:spcPct val="96000"/>
              </a:lnSpc>
              <a:buNone/>
            </a:pPr>
            <a:r>
              <a:rPr lang="en-US" sz="500" dirty="0">
                <a:solidFill>
                  <a:srgbClr val="4C4C4D"/>
                </a:solidFill>
                <a:latin typeface="Heebo" pitchFamily="34" charset="0"/>
                <a:ea typeface="Heebo" pitchFamily="34" charset="-122"/>
                <a:cs typeface="Heebo" pitchFamily="34" charset="-120"/>
              </a:rPr>
              <a:t>RISK QUANTIFICATION</a:t>
            </a:r>
            <a:endParaRPr lang="en-US" sz="500" dirty="0"/>
          </a:p>
        </p:txBody>
      </p:sp>
      <p:sp>
        <p:nvSpPr>
          <p:cNvPr id="4" name="Text 2"/>
          <p:cNvSpPr/>
          <p:nvPr/>
        </p:nvSpPr>
        <p:spPr>
          <a:xfrm>
            <a:off x="496119" y="517475"/>
            <a:ext cx="8151763" cy="248320"/>
          </a:xfrm>
          <a:prstGeom prst="rect">
            <a:avLst/>
          </a:prstGeom>
          <a:noFill/>
          <a:ln/>
        </p:spPr>
        <p:txBody>
          <a:bodyPr wrap="none" lIns="0" tIns="0" rIns="0" bIns="0" rtlCol="0" anchor="t"/>
          <a:lstStyle/>
          <a:p>
            <a:pPr marL="0" indent="0" algn="l">
              <a:lnSpc>
                <a:spcPct val="104000"/>
              </a:lnSpc>
              <a:buNone/>
            </a:pPr>
            <a:r>
              <a:rPr lang="en-US" sz="1550" dirty="0">
                <a:solidFill>
                  <a:srgbClr val="152D47"/>
                </a:solidFill>
                <a:latin typeface="Crimson Pro SemiBold" pitchFamily="34" charset="0"/>
                <a:ea typeface="Crimson Pro SemiBold" pitchFamily="34" charset="-122"/>
                <a:cs typeface="Crimson Pro SemiBold" pitchFamily="34" charset="-120"/>
              </a:rPr>
              <a:t>DP Risk Increases Materially During Peak Conditions</a:t>
            </a:r>
            <a:endParaRPr lang="en-US" sz="1550" dirty="0"/>
          </a:p>
        </p:txBody>
      </p:sp>
      <p:sp>
        <p:nvSpPr>
          <p:cNvPr id="5" name="Text 3"/>
          <p:cNvSpPr/>
          <p:nvPr/>
        </p:nvSpPr>
        <p:spPr>
          <a:xfrm>
            <a:off x="496119" y="881807"/>
            <a:ext cx="4044032" cy="262235"/>
          </a:xfrm>
          <a:prstGeom prst="rect">
            <a:avLst/>
          </a:prstGeom>
          <a:noFill/>
          <a:ln/>
        </p:spPr>
        <p:txBody>
          <a:bodyPr wrap="none" lIns="0" tIns="0" rIns="0" bIns="0" rtlCol="0" anchor="t"/>
          <a:lstStyle/>
          <a:p>
            <a:pPr marL="0" indent="0" algn="ctr">
              <a:lnSpc>
                <a:spcPct val="83000"/>
              </a:lnSpc>
              <a:buNone/>
            </a:pPr>
            <a:r>
              <a:rPr lang="en-US" sz="2050" dirty="0">
                <a:solidFill>
                  <a:srgbClr val="4C4C4D"/>
                </a:solidFill>
                <a:latin typeface="Crimson Pro SemiBold" pitchFamily="34" charset="0"/>
                <a:ea typeface="Crimson Pro SemiBold" pitchFamily="34" charset="-122"/>
                <a:cs typeface="Crimson Pro SemiBold" pitchFamily="34" charset="-120"/>
              </a:rPr>
              <a:t>21%</a:t>
            </a:r>
            <a:endParaRPr lang="en-US" sz="2050" dirty="0"/>
          </a:p>
        </p:txBody>
      </p:sp>
      <p:sp>
        <p:nvSpPr>
          <p:cNvPr id="6" name="Text 4"/>
          <p:cNvSpPr/>
          <p:nvPr/>
        </p:nvSpPr>
        <p:spPr>
          <a:xfrm>
            <a:off x="496119" y="1221879"/>
            <a:ext cx="4044032" cy="124123"/>
          </a:xfrm>
          <a:prstGeom prst="rect">
            <a:avLst/>
          </a:prstGeom>
          <a:noFill/>
          <a:ln/>
        </p:spPr>
        <p:txBody>
          <a:bodyPr wrap="none" lIns="0" tIns="0" rIns="0" bIns="0" rtlCol="0" anchor="t"/>
          <a:lstStyle/>
          <a:p>
            <a:pPr marL="0" indent="0" algn="ctr">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Overall Breach Rate</a:t>
            </a:r>
            <a:endParaRPr lang="en-US" sz="900" dirty="0"/>
          </a:p>
        </p:txBody>
      </p:sp>
      <p:sp>
        <p:nvSpPr>
          <p:cNvPr id="7" name="Text 5"/>
          <p:cNvSpPr/>
          <p:nvPr/>
        </p:nvSpPr>
        <p:spPr>
          <a:xfrm>
            <a:off x="496119" y="1376511"/>
            <a:ext cx="4044032" cy="104254"/>
          </a:xfrm>
          <a:prstGeom prst="rect">
            <a:avLst/>
          </a:prstGeom>
          <a:noFill/>
          <a:ln/>
        </p:spPr>
        <p:txBody>
          <a:bodyPr wrap="none" lIns="0" tIns="0" rIns="0" bIns="0" rtlCol="0" anchor="t"/>
          <a:lstStyle/>
          <a:p>
            <a:pPr marL="0" indent="0" algn="ctr">
              <a:lnSpc>
                <a:spcPct val="109000"/>
              </a:lnSpc>
              <a:buNone/>
            </a:pPr>
            <a:r>
              <a:rPr lang="en-US" sz="800" dirty="0">
                <a:solidFill>
                  <a:srgbClr val="4C4C4D"/>
                </a:solidFill>
                <a:latin typeface="Heebo" pitchFamily="34" charset="0"/>
                <a:ea typeface="Heebo" pitchFamily="34" charset="-122"/>
                <a:cs typeface="Heebo" pitchFamily="34" charset="-120"/>
              </a:rPr>
              <a:t>Across all 4,032 observations in the two-week period</a:t>
            </a:r>
            <a:endParaRPr lang="en-US" sz="800" dirty="0"/>
          </a:p>
        </p:txBody>
      </p:sp>
      <p:sp>
        <p:nvSpPr>
          <p:cNvPr id="8" name="Text 6"/>
          <p:cNvSpPr/>
          <p:nvPr/>
        </p:nvSpPr>
        <p:spPr>
          <a:xfrm>
            <a:off x="4603775" y="881807"/>
            <a:ext cx="4044107" cy="262235"/>
          </a:xfrm>
          <a:prstGeom prst="rect">
            <a:avLst/>
          </a:prstGeom>
          <a:noFill/>
          <a:ln/>
        </p:spPr>
        <p:txBody>
          <a:bodyPr wrap="none" lIns="0" tIns="0" rIns="0" bIns="0" rtlCol="0" anchor="t"/>
          <a:lstStyle/>
          <a:p>
            <a:pPr marL="0" indent="0" algn="ctr">
              <a:lnSpc>
                <a:spcPct val="83000"/>
              </a:lnSpc>
              <a:buNone/>
            </a:pPr>
            <a:r>
              <a:rPr lang="en-US" sz="2050" dirty="0">
                <a:solidFill>
                  <a:srgbClr val="4C4C4D"/>
                </a:solidFill>
                <a:latin typeface="Crimson Pro SemiBold" pitchFamily="34" charset="0"/>
                <a:ea typeface="Crimson Pro SemiBold" pitchFamily="34" charset="-122"/>
                <a:cs typeface="Crimson Pro SemiBold" pitchFamily="34" charset="-120"/>
              </a:rPr>
              <a:t>37.9%</a:t>
            </a:r>
            <a:endParaRPr lang="en-US" sz="2050" dirty="0"/>
          </a:p>
        </p:txBody>
      </p:sp>
      <p:sp>
        <p:nvSpPr>
          <p:cNvPr id="9" name="Text 7"/>
          <p:cNvSpPr/>
          <p:nvPr/>
        </p:nvSpPr>
        <p:spPr>
          <a:xfrm>
            <a:off x="4603775" y="1223442"/>
            <a:ext cx="4044107" cy="124123"/>
          </a:xfrm>
          <a:prstGeom prst="rect">
            <a:avLst/>
          </a:prstGeom>
          <a:noFill/>
          <a:ln/>
        </p:spPr>
        <p:txBody>
          <a:bodyPr wrap="none" lIns="0" tIns="0" rIns="0" bIns="0" rtlCol="0" anchor="t"/>
          <a:lstStyle/>
          <a:p>
            <a:pPr marL="0" indent="0" algn="ctr">
              <a:lnSpc>
                <a:spcPct val="104000"/>
              </a:lnSpc>
              <a:buNone/>
            </a:pPr>
            <a:r>
              <a:rPr lang="en-US" sz="750" dirty="0">
                <a:solidFill>
                  <a:srgbClr val="4C4C4D"/>
                </a:solidFill>
                <a:latin typeface="Crimson Pro SemiBold" pitchFamily="34" charset="0"/>
                <a:ea typeface="Crimson Pro SemiBold" pitchFamily="34" charset="-122"/>
                <a:cs typeface="Crimson Pro SemiBold" pitchFamily="34" charset="-120"/>
              </a:rPr>
              <a:t>Peak Breach Rate</a:t>
            </a:r>
            <a:endParaRPr lang="en-US" sz="750" dirty="0"/>
          </a:p>
        </p:txBody>
      </p:sp>
      <p:sp>
        <p:nvSpPr>
          <p:cNvPr id="10" name="Text 8"/>
          <p:cNvSpPr/>
          <p:nvPr/>
        </p:nvSpPr>
        <p:spPr>
          <a:xfrm>
            <a:off x="4447989" y="1363124"/>
            <a:ext cx="4044107" cy="104254"/>
          </a:xfrm>
          <a:prstGeom prst="rect">
            <a:avLst/>
          </a:prstGeom>
          <a:noFill/>
          <a:ln/>
        </p:spPr>
        <p:txBody>
          <a:bodyPr wrap="none" lIns="0" tIns="0" rIns="0" bIns="0" rtlCol="0" anchor="t"/>
          <a:lstStyle/>
          <a:p>
            <a:pPr marL="0" indent="0" algn="ctr">
              <a:lnSpc>
                <a:spcPct val="109000"/>
              </a:lnSpc>
              <a:buNone/>
            </a:pPr>
            <a:r>
              <a:rPr lang="en-US" sz="800" dirty="0">
                <a:solidFill>
                  <a:srgbClr val="4C4C4D"/>
                </a:solidFill>
                <a:latin typeface="Heebo" pitchFamily="34" charset="0"/>
                <a:ea typeface="Heebo" pitchFamily="34" charset="-122"/>
                <a:cs typeface="Heebo" pitchFamily="34" charset="-120"/>
              </a:rPr>
              <a:t>1,008 five-minute observations · avg DP 13.57 psi · min 5.68 psi</a:t>
            </a:r>
            <a:endParaRPr lang="en-US" sz="800" dirty="0"/>
          </a:p>
        </p:txBody>
      </p:sp>
      <p:sp>
        <p:nvSpPr>
          <p:cNvPr id="11" name="Text 9"/>
          <p:cNvSpPr/>
          <p:nvPr/>
        </p:nvSpPr>
        <p:spPr>
          <a:xfrm>
            <a:off x="496119" y="1622227"/>
            <a:ext cx="4044032" cy="262235"/>
          </a:xfrm>
          <a:prstGeom prst="rect">
            <a:avLst/>
          </a:prstGeom>
          <a:noFill/>
          <a:ln/>
        </p:spPr>
        <p:txBody>
          <a:bodyPr wrap="none" lIns="0" tIns="0" rIns="0" bIns="0" rtlCol="0" anchor="t"/>
          <a:lstStyle/>
          <a:p>
            <a:pPr marL="0" indent="0" algn="ctr">
              <a:lnSpc>
                <a:spcPct val="83000"/>
              </a:lnSpc>
              <a:buNone/>
            </a:pPr>
            <a:r>
              <a:rPr lang="en-US" sz="2050" dirty="0">
                <a:solidFill>
                  <a:srgbClr val="4C4C4D"/>
                </a:solidFill>
                <a:latin typeface="Crimson Pro SemiBold" pitchFamily="34" charset="0"/>
                <a:ea typeface="Crimson Pro SemiBold" pitchFamily="34" charset="-122"/>
                <a:cs typeface="Crimson Pro SemiBold" pitchFamily="34" charset="-120"/>
              </a:rPr>
              <a:t>21.7%</a:t>
            </a:r>
            <a:endParaRPr lang="en-US" sz="2050" dirty="0"/>
          </a:p>
        </p:txBody>
      </p:sp>
      <p:sp>
        <p:nvSpPr>
          <p:cNvPr id="12" name="Text 10"/>
          <p:cNvSpPr/>
          <p:nvPr/>
        </p:nvSpPr>
        <p:spPr>
          <a:xfrm>
            <a:off x="496119" y="1921661"/>
            <a:ext cx="4044032" cy="124123"/>
          </a:xfrm>
          <a:prstGeom prst="rect">
            <a:avLst/>
          </a:prstGeom>
          <a:noFill/>
          <a:ln/>
        </p:spPr>
        <p:txBody>
          <a:bodyPr wrap="none" lIns="0" tIns="0" rIns="0" bIns="0" rtlCol="0" anchor="t"/>
          <a:lstStyle/>
          <a:p>
            <a:pPr marL="0" indent="0" algn="ctr">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Non-Peak Breach Rate</a:t>
            </a:r>
            <a:endParaRPr lang="en-US" sz="900" dirty="0"/>
          </a:p>
        </p:txBody>
      </p:sp>
      <p:sp>
        <p:nvSpPr>
          <p:cNvPr id="13" name="Text 11"/>
          <p:cNvSpPr/>
          <p:nvPr/>
        </p:nvSpPr>
        <p:spPr>
          <a:xfrm>
            <a:off x="496119" y="2055974"/>
            <a:ext cx="4044032" cy="104254"/>
          </a:xfrm>
          <a:prstGeom prst="rect">
            <a:avLst/>
          </a:prstGeom>
          <a:noFill/>
          <a:ln/>
        </p:spPr>
        <p:txBody>
          <a:bodyPr wrap="none" lIns="0" tIns="0" rIns="0" bIns="0" rtlCol="0" anchor="t"/>
          <a:lstStyle/>
          <a:p>
            <a:pPr marL="0" indent="0" algn="ctr">
              <a:lnSpc>
                <a:spcPct val="109000"/>
              </a:lnSpc>
              <a:buNone/>
            </a:pPr>
            <a:r>
              <a:rPr lang="en-US" sz="800" dirty="0">
                <a:solidFill>
                  <a:srgbClr val="4C4C4D"/>
                </a:solidFill>
                <a:latin typeface="Heebo" pitchFamily="34" charset="0"/>
                <a:ea typeface="Heebo" pitchFamily="34" charset="-122"/>
                <a:cs typeface="Heebo" pitchFamily="34" charset="-120"/>
              </a:rPr>
              <a:t>263 hours assessed · avg DP 18.66 psi · min 5.93 psi</a:t>
            </a:r>
            <a:endParaRPr lang="en-US" sz="800" dirty="0"/>
          </a:p>
        </p:txBody>
      </p:sp>
      <p:sp>
        <p:nvSpPr>
          <p:cNvPr id="14" name="Text 12"/>
          <p:cNvSpPr/>
          <p:nvPr/>
        </p:nvSpPr>
        <p:spPr>
          <a:xfrm>
            <a:off x="4603775" y="1622227"/>
            <a:ext cx="4044107" cy="262235"/>
          </a:xfrm>
          <a:prstGeom prst="rect">
            <a:avLst/>
          </a:prstGeom>
          <a:noFill/>
          <a:ln/>
        </p:spPr>
        <p:txBody>
          <a:bodyPr wrap="none" lIns="0" tIns="0" rIns="0" bIns="0" rtlCol="0" anchor="t"/>
          <a:lstStyle/>
          <a:p>
            <a:pPr marL="0" indent="0" algn="ctr">
              <a:lnSpc>
                <a:spcPct val="83000"/>
              </a:lnSpc>
              <a:buNone/>
            </a:pPr>
            <a:r>
              <a:rPr lang="en-US" sz="2050" dirty="0">
                <a:solidFill>
                  <a:srgbClr val="4C4C4D"/>
                </a:solidFill>
                <a:latin typeface="Crimson Pro SemiBold" pitchFamily="34" charset="0"/>
                <a:ea typeface="Crimson Pro SemiBold" pitchFamily="34" charset="-122"/>
                <a:cs typeface="Crimson Pro SemiBold" pitchFamily="34" charset="-120"/>
              </a:rPr>
              <a:t>13.57</a:t>
            </a:r>
            <a:endParaRPr lang="en-US" sz="2050" dirty="0"/>
          </a:p>
        </p:txBody>
      </p:sp>
      <p:sp>
        <p:nvSpPr>
          <p:cNvPr id="15" name="Text 13"/>
          <p:cNvSpPr/>
          <p:nvPr/>
        </p:nvSpPr>
        <p:spPr>
          <a:xfrm>
            <a:off x="4572000" y="1921661"/>
            <a:ext cx="4044107" cy="124123"/>
          </a:xfrm>
          <a:prstGeom prst="rect">
            <a:avLst/>
          </a:prstGeom>
          <a:noFill/>
          <a:ln/>
        </p:spPr>
        <p:txBody>
          <a:bodyPr wrap="none" lIns="0" tIns="0" rIns="0" bIns="0" rtlCol="0" anchor="t"/>
          <a:lstStyle/>
          <a:p>
            <a:pPr marL="0" indent="0" algn="ctr">
              <a:lnSpc>
                <a:spcPct val="104000"/>
              </a:lnSpc>
              <a:buNone/>
            </a:pPr>
            <a:r>
              <a:rPr lang="en-US" sz="750" dirty="0">
                <a:solidFill>
                  <a:srgbClr val="4C4C4D"/>
                </a:solidFill>
                <a:latin typeface="Crimson Pro SemiBold" pitchFamily="34" charset="0"/>
                <a:ea typeface="Crimson Pro SemiBold" pitchFamily="34" charset="-122"/>
                <a:cs typeface="Crimson Pro SemiBold" pitchFamily="34" charset="-120"/>
              </a:rPr>
              <a:t>Avg Peak DP (psi)</a:t>
            </a:r>
            <a:endParaRPr lang="en-US" sz="750" dirty="0"/>
          </a:p>
        </p:txBody>
      </p:sp>
      <p:sp>
        <p:nvSpPr>
          <p:cNvPr id="16" name="Text 14"/>
          <p:cNvSpPr/>
          <p:nvPr/>
        </p:nvSpPr>
        <p:spPr>
          <a:xfrm>
            <a:off x="4585357" y="2055974"/>
            <a:ext cx="4044107" cy="104254"/>
          </a:xfrm>
          <a:prstGeom prst="rect">
            <a:avLst/>
          </a:prstGeom>
          <a:noFill/>
          <a:ln/>
        </p:spPr>
        <p:txBody>
          <a:bodyPr wrap="none" lIns="0" tIns="0" rIns="0" bIns="0" rtlCol="0" anchor="t"/>
          <a:lstStyle/>
          <a:p>
            <a:pPr marL="0" indent="0" algn="ctr">
              <a:lnSpc>
                <a:spcPct val="109000"/>
              </a:lnSpc>
              <a:buNone/>
            </a:pPr>
            <a:r>
              <a:rPr lang="en-US" sz="800" dirty="0">
                <a:solidFill>
                  <a:srgbClr val="4C4C4D"/>
                </a:solidFill>
                <a:latin typeface="Heebo" pitchFamily="34" charset="0"/>
                <a:ea typeface="Heebo" pitchFamily="34" charset="-122"/>
                <a:cs typeface="Heebo" pitchFamily="34" charset="-120"/>
              </a:rPr>
              <a:t>Only 1.57 psi above the 12 psi upset threshold — </a:t>
            </a:r>
            <a:r>
              <a:rPr lang="en-US" sz="800" dirty="0" smtClean="0">
                <a:solidFill>
                  <a:srgbClr val="4C4C4D"/>
                </a:solidFill>
                <a:latin typeface="Heebo" pitchFamily="34" charset="0"/>
                <a:ea typeface="Heebo" pitchFamily="34" charset="-122"/>
                <a:cs typeface="Heebo" pitchFamily="34" charset="-120"/>
              </a:rPr>
              <a:t>a </a:t>
            </a:r>
            <a:r>
              <a:rPr lang="en-US" sz="800" dirty="0">
                <a:solidFill>
                  <a:srgbClr val="4C4C4D"/>
                </a:solidFill>
                <a:latin typeface="Heebo" pitchFamily="34" charset="0"/>
                <a:ea typeface="Heebo" pitchFamily="34" charset="-122"/>
                <a:cs typeface="Heebo" pitchFamily="34" charset="-120"/>
              </a:rPr>
              <a:t>thin margin</a:t>
            </a:r>
            <a:endParaRPr lang="en-US" sz="800" dirty="0"/>
          </a:p>
        </p:txBody>
      </p:sp>
      <p:sp>
        <p:nvSpPr>
          <p:cNvPr id="17" name="Text 15"/>
          <p:cNvSpPr/>
          <p:nvPr/>
        </p:nvSpPr>
        <p:spPr>
          <a:xfrm>
            <a:off x="143810" y="2338758"/>
            <a:ext cx="2497790" cy="124123"/>
          </a:xfrm>
          <a:prstGeom prst="rect">
            <a:avLst/>
          </a:prstGeom>
          <a:noFill/>
          <a:ln/>
        </p:spPr>
        <p:txBody>
          <a:bodyPr wrap="none" lIns="0" tIns="0" rIns="0" bIns="0" rtlCol="0" anchor="t"/>
          <a:lstStyle/>
          <a:p>
            <a:pPr marL="0" indent="0" algn="l">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Peak vs. Non-Peak Breach Rate Comparison</a:t>
            </a:r>
            <a:endParaRPr lang="en-US" sz="900" dirty="0"/>
          </a:p>
        </p:txBody>
      </p:sp>
      <p:pic>
        <p:nvPicPr>
          <p:cNvPr id="18" name="Image 0" descr="preencoded.png"/>
          <p:cNvPicPr>
            <a:picLocks noChangeAspect="1"/>
          </p:cNvPicPr>
          <p:nvPr/>
        </p:nvPicPr>
        <p:blipFill>
          <a:blip r:embed="rId3"/>
          <a:stretch>
            <a:fillRect/>
          </a:stretch>
        </p:blipFill>
        <p:spPr>
          <a:xfrm>
            <a:off x="94827" y="2510656"/>
            <a:ext cx="4223955" cy="2569344"/>
          </a:xfrm>
          <a:prstGeom prst="rect">
            <a:avLst/>
          </a:prstGeom>
        </p:spPr>
      </p:pic>
      <p:sp>
        <p:nvSpPr>
          <p:cNvPr id="19" name="Text 16"/>
          <p:cNvSpPr/>
          <p:nvPr/>
        </p:nvSpPr>
        <p:spPr>
          <a:xfrm>
            <a:off x="4673650" y="2361048"/>
            <a:ext cx="3978994" cy="124123"/>
          </a:xfrm>
          <a:prstGeom prst="rect">
            <a:avLst/>
          </a:prstGeom>
          <a:noFill/>
          <a:ln/>
        </p:spPr>
        <p:txBody>
          <a:bodyPr wrap="none" lIns="0" tIns="0" rIns="0" bIns="0" rtlCol="0" anchor="t"/>
          <a:lstStyle/>
          <a:p>
            <a:pPr marL="0" indent="0" algn="l">
              <a:lnSpc>
                <a:spcPct val="104000"/>
              </a:lnSpc>
              <a:buNone/>
            </a:pPr>
            <a:r>
              <a:rPr lang="en-US" sz="1050" dirty="0">
                <a:solidFill>
                  <a:srgbClr val="152D47"/>
                </a:solidFill>
                <a:latin typeface="Crimson Pro SemiBold" pitchFamily="34" charset="0"/>
                <a:ea typeface="Crimson Pro SemiBold" pitchFamily="34" charset="-122"/>
                <a:cs typeface="Crimson Pro SemiBold" pitchFamily="34" charset="-120"/>
              </a:rPr>
              <a:t>Operational Significance</a:t>
            </a:r>
            <a:endParaRPr lang="en-US" sz="1050" dirty="0"/>
          </a:p>
        </p:txBody>
      </p:sp>
      <p:sp>
        <p:nvSpPr>
          <p:cNvPr id="20" name="Text 17"/>
          <p:cNvSpPr/>
          <p:nvPr/>
        </p:nvSpPr>
        <p:spPr>
          <a:xfrm>
            <a:off x="4673650" y="2584927"/>
            <a:ext cx="3978994" cy="789611"/>
          </a:xfrm>
          <a:prstGeom prst="rect">
            <a:avLst/>
          </a:prstGeom>
          <a:noFill/>
          <a:ln/>
        </p:spPr>
        <p:txBody>
          <a:bodyPr wrap="square" lIns="0" tIns="0" rIns="0" bIns="0" rtlCol="0" anchor="t">
            <a:normAutofit/>
          </a:bodyPr>
          <a:lstStyle/>
          <a:p>
            <a:pPr>
              <a:lnSpc>
                <a:spcPct val="109000"/>
              </a:lnSpc>
              <a:spcAft>
                <a:spcPts val="350"/>
              </a:spcAft>
            </a:pPr>
            <a:r>
              <a:rPr lang="en-US" sz="700" dirty="0">
                <a:solidFill>
                  <a:srgbClr val="4C4C4D"/>
                </a:solidFill>
                <a:latin typeface="Heebo" pitchFamily="34" charset="0"/>
                <a:ea typeface="Heebo" pitchFamily="34" charset="-122"/>
                <a:cs typeface="Heebo" pitchFamily="34" charset="-120"/>
              </a:rPr>
              <a:t>The peak breach rate of </a:t>
            </a:r>
            <a:r>
              <a:rPr lang="en-US" sz="700" b="1" dirty="0">
                <a:solidFill>
                  <a:srgbClr val="2150FE"/>
                </a:solidFill>
                <a:latin typeface="Heebo Bold" pitchFamily="34" charset="0"/>
                <a:ea typeface="Heebo Bold" pitchFamily="34" charset="-122"/>
                <a:cs typeface="Heebo Bold" pitchFamily="34" charset="-120"/>
              </a:rPr>
              <a:t>37.9%</a:t>
            </a:r>
            <a:r>
              <a:rPr lang="en-US" sz="700" dirty="0">
                <a:solidFill>
                  <a:srgbClr val="4C4C4D"/>
                </a:solidFill>
                <a:latin typeface="Heebo" pitchFamily="34" charset="0"/>
                <a:ea typeface="Heebo" pitchFamily="34" charset="-122"/>
                <a:cs typeface="Heebo" pitchFamily="34" charset="-120"/>
              </a:rPr>
              <a:t> is </a:t>
            </a:r>
            <a:r>
              <a:rPr lang="en-US" sz="700" b="1" dirty="0">
                <a:solidFill>
                  <a:srgbClr val="4C4C4D"/>
                </a:solidFill>
                <a:latin typeface="Heebo Bold" pitchFamily="34" charset="0"/>
                <a:ea typeface="Heebo Bold" pitchFamily="34" charset="-122"/>
                <a:cs typeface="Heebo Bold" pitchFamily="34" charset="-120"/>
              </a:rPr>
              <a:t>75% higher</a:t>
            </a:r>
            <a:r>
              <a:rPr lang="en-US" sz="700" dirty="0">
                <a:solidFill>
                  <a:srgbClr val="4C4C4D"/>
                </a:solidFill>
                <a:latin typeface="Heebo" pitchFamily="34" charset="0"/>
                <a:ea typeface="Heebo" pitchFamily="34" charset="-122"/>
                <a:cs typeface="Heebo" pitchFamily="34" charset="-120"/>
              </a:rPr>
              <a:t> than the non-peak rate of 21.7% — a material operational difference that represents a meaningful operational increase in customer service risk..</a:t>
            </a:r>
          </a:p>
          <a:p>
            <a:pPr marL="0" indent="0" algn="l">
              <a:lnSpc>
                <a:spcPct val="109000"/>
              </a:lnSpc>
              <a:buNone/>
            </a:pPr>
            <a:r>
              <a:rPr lang="en-US" sz="700" dirty="0">
                <a:solidFill>
                  <a:srgbClr val="4C4C4D"/>
                </a:solidFill>
                <a:latin typeface="Heebo" pitchFamily="34" charset="0"/>
                <a:ea typeface="Heebo" pitchFamily="34" charset="-122"/>
                <a:cs typeface="Heebo" pitchFamily="34" charset="-120"/>
              </a:rPr>
              <a:t>During peak cooling periods, customer DP is approaching the upset threshold on average, meaning that any incremental increase in demand or reduction in output pressure is sufficient to trigger a service delivery failure.</a:t>
            </a:r>
            <a:endParaRPr lang="en-US" sz="700" dirty="0"/>
          </a:p>
        </p:txBody>
      </p:sp>
      <p:grpSp>
        <p:nvGrpSpPr>
          <p:cNvPr id="25" name="Group 24"/>
          <p:cNvGrpSpPr/>
          <p:nvPr/>
        </p:nvGrpSpPr>
        <p:grpSpPr>
          <a:xfrm>
            <a:off x="5486400" y="3445330"/>
            <a:ext cx="3263308" cy="635093"/>
            <a:chOff x="4741383" y="3604460"/>
            <a:chExt cx="3978994" cy="443880"/>
          </a:xfrm>
        </p:grpSpPr>
        <p:sp>
          <p:nvSpPr>
            <p:cNvPr id="21" name="Shape 18"/>
            <p:cNvSpPr/>
            <p:nvPr/>
          </p:nvSpPr>
          <p:spPr>
            <a:xfrm>
              <a:off x="4741383" y="3604460"/>
              <a:ext cx="3978994" cy="443880"/>
            </a:xfrm>
            <a:prstGeom prst="roundRect">
              <a:avLst>
                <a:gd name="adj" fmla="val 2685"/>
              </a:avLst>
            </a:prstGeom>
            <a:solidFill>
              <a:srgbClr val="FCF2B5"/>
            </a:solidFill>
            <a:ln/>
          </p:spPr>
        </p:sp>
        <p:pic>
          <p:nvPicPr>
            <p:cNvPr id="22" name="Image 1" descr="preencoded.png"/>
            <p:cNvPicPr>
              <a:picLocks noChangeAspect="1"/>
            </p:cNvPicPr>
            <p:nvPr/>
          </p:nvPicPr>
          <p:blipFill>
            <a:blip r:embed="rId4"/>
            <a:stretch>
              <a:fillRect/>
            </a:stretch>
          </p:blipFill>
          <p:spPr>
            <a:xfrm>
              <a:off x="4770714" y="3700839"/>
              <a:ext cx="183561" cy="146822"/>
            </a:xfrm>
            <a:prstGeom prst="rect">
              <a:avLst/>
            </a:prstGeom>
          </p:spPr>
        </p:pic>
        <p:sp>
          <p:nvSpPr>
            <p:cNvPr id="23" name="Text 19"/>
            <p:cNvSpPr/>
            <p:nvPr/>
          </p:nvSpPr>
          <p:spPr>
            <a:xfrm>
              <a:off x="5011117" y="3686101"/>
              <a:ext cx="3641527" cy="312762"/>
            </a:xfrm>
            <a:prstGeom prst="rect">
              <a:avLst/>
            </a:prstGeom>
            <a:noFill/>
            <a:ln/>
          </p:spPr>
          <p:txBody>
            <a:bodyPr wrap="square" lIns="0" tIns="0" rIns="0" bIns="0" rtlCol="0" anchor="t">
              <a:noAutofit/>
            </a:bodyPr>
            <a:lstStyle/>
            <a:p>
              <a:pPr marL="0" indent="0" algn="l">
                <a:lnSpc>
                  <a:spcPct val="109000"/>
                </a:lnSpc>
                <a:buNone/>
              </a:pPr>
              <a:r>
                <a:rPr lang="en-US" sz="700" dirty="0">
                  <a:solidFill>
                    <a:srgbClr val="000000"/>
                  </a:solidFill>
                  <a:latin typeface="Heebo" pitchFamily="34" charset="0"/>
                  <a:ea typeface="Heebo" pitchFamily="34" charset="-122"/>
                  <a:cs typeface="Heebo" pitchFamily="34" charset="-120"/>
                </a:rPr>
                <a:t>Peak conditions were analytically defined as the highest quartile of total cooling production. A formal operational definition was unavailable. </a:t>
              </a:r>
              <a:r>
                <a:rPr lang="en-US" sz="700" i="1" dirty="0">
                  <a:solidFill>
                    <a:srgbClr val="000000"/>
                  </a:solidFill>
                  <a:latin typeface="Heebo" pitchFamily="34" charset="0"/>
                  <a:ea typeface="Heebo" pitchFamily="34" charset="-122"/>
                  <a:cs typeface="Heebo" pitchFamily="34" charset="-120"/>
                </a:rPr>
                <a:t>Note: Peak data assessed at 5-minute resolution; non-peak at hourly resolution — direct rate comparison should account for this difference in granularity.</a:t>
              </a:r>
              <a:endParaRPr lang="en-US" sz="700" dirty="0"/>
            </a:p>
          </p:txBody>
        </p:sp>
      </p:grpSp>
      <p:sp>
        <p:nvSpPr>
          <p:cNvPr id="24" name="TextBox 23"/>
          <p:cNvSpPr txBox="1"/>
          <p:nvPr/>
        </p:nvSpPr>
        <p:spPr>
          <a:xfrm>
            <a:off x="4673650" y="4224799"/>
            <a:ext cx="3867523" cy="584775"/>
          </a:xfrm>
          <a:prstGeom prst="rect">
            <a:avLst/>
          </a:prstGeom>
          <a:noFill/>
        </p:spPr>
        <p:txBody>
          <a:bodyPr wrap="square" rtlCol="0">
            <a:spAutoFit/>
          </a:bodyPr>
          <a:lstStyle/>
          <a:p>
            <a:r>
              <a:rPr lang="en-US" sz="1400" b="1" dirty="0" smtClean="0"/>
              <a:t>So What? </a:t>
            </a:r>
          </a:p>
          <a:p>
            <a:r>
              <a:rPr lang="en-US" sz="900" dirty="0" smtClean="0"/>
              <a:t>Peak </a:t>
            </a:r>
            <a:r>
              <a:rPr lang="en-US" sz="900" dirty="0"/>
              <a:t>operating periods represent the highest customer service risk and should receive the highest level of operational monitoring</a:t>
            </a:r>
            <a:endParaRPr lang="en-US" sz="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101707"/>
            <a:ext cx="1525414" cy="182538"/>
          </a:xfrm>
          <a:prstGeom prst="roundRect">
            <a:avLst>
              <a:gd name="adj" fmla="val 7900"/>
            </a:avLst>
          </a:prstGeom>
          <a:solidFill>
            <a:srgbClr val="CCD7FF"/>
          </a:solidFill>
          <a:ln/>
        </p:spPr>
      </p:sp>
      <p:sp>
        <p:nvSpPr>
          <p:cNvPr id="3" name="Text 1"/>
          <p:cNvSpPr/>
          <p:nvPr/>
        </p:nvSpPr>
        <p:spPr>
          <a:xfrm>
            <a:off x="568151" y="157027"/>
            <a:ext cx="1838548" cy="110505"/>
          </a:xfrm>
          <a:prstGeom prst="rect">
            <a:avLst/>
          </a:prstGeom>
          <a:noFill/>
          <a:ln/>
        </p:spPr>
        <p:txBody>
          <a:bodyPr wrap="none" lIns="0" tIns="0" rIns="0" bIns="0" rtlCol="0" anchor="t"/>
          <a:lstStyle/>
          <a:p>
            <a:pPr marL="0" indent="0" algn="l">
              <a:lnSpc>
                <a:spcPct val="96000"/>
              </a:lnSpc>
              <a:buNone/>
            </a:pPr>
            <a:r>
              <a:rPr lang="en-US" sz="750" dirty="0">
                <a:solidFill>
                  <a:srgbClr val="4C4C4D"/>
                </a:solidFill>
                <a:latin typeface="Heebo" pitchFamily="34" charset="0"/>
                <a:ea typeface="Heebo" pitchFamily="34" charset="-122"/>
                <a:cs typeface="Heebo" pitchFamily="34" charset="-120"/>
              </a:rPr>
              <a:t>TEMPORAL PATTERN ANALYSIS</a:t>
            </a:r>
            <a:endParaRPr lang="en-US" sz="750" dirty="0"/>
          </a:p>
        </p:txBody>
      </p:sp>
      <p:sp>
        <p:nvSpPr>
          <p:cNvPr id="4" name="Text 2"/>
          <p:cNvSpPr/>
          <p:nvPr/>
        </p:nvSpPr>
        <p:spPr>
          <a:xfrm>
            <a:off x="477383" y="330826"/>
            <a:ext cx="8151763" cy="375493"/>
          </a:xfrm>
          <a:prstGeom prst="rect">
            <a:avLst/>
          </a:prstGeom>
          <a:noFill/>
          <a:ln/>
        </p:spPr>
        <p:txBody>
          <a:bodyPr wrap="none" lIns="0" tIns="0" rIns="0" bIns="0" rtlCol="0" anchor="t"/>
          <a:lstStyle/>
          <a:p>
            <a:pPr marL="0" indent="0" algn="l">
              <a:lnSpc>
                <a:spcPct val="104000"/>
              </a:lnSpc>
              <a:buNone/>
            </a:pPr>
            <a:r>
              <a:rPr lang="en-US" sz="2350" dirty="0" smtClean="0">
                <a:solidFill>
                  <a:srgbClr val="152D47"/>
                </a:solidFill>
                <a:latin typeface="Crimson Pro SemiBold" pitchFamily="34" charset="0"/>
                <a:ea typeface="Crimson Pro SemiBold" pitchFamily="34" charset="-122"/>
                <a:cs typeface="Crimson Pro SemiBold" pitchFamily="34" charset="-120"/>
              </a:rPr>
              <a:t>Customer DP Does not Deteriorate Randomly</a:t>
            </a:r>
            <a:endParaRPr lang="en-US" sz="2350" dirty="0"/>
          </a:p>
        </p:txBody>
      </p:sp>
      <p:sp>
        <p:nvSpPr>
          <p:cNvPr id="5" name="Text 3"/>
          <p:cNvSpPr/>
          <p:nvPr/>
        </p:nvSpPr>
        <p:spPr>
          <a:xfrm>
            <a:off x="496119" y="747581"/>
            <a:ext cx="3929286" cy="187747"/>
          </a:xfrm>
          <a:prstGeom prst="rect">
            <a:avLst/>
          </a:prstGeom>
          <a:noFill/>
          <a:ln/>
        </p:spPr>
        <p:txBody>
          <a:bodyPr wrap="none" lIns="0" tIns="0" rIns="0" bIns="0" rtlCol="0" anchor="t"/>
          <a:lstStyle/>
          <a:p>
            <a:pPr marL="0" indent="0" algn="l">
              <a:lnSpc>
                <a:spcPct val="104000"/>
              </a:lnSpc>
              <a:buNone/>
            </a:pPr>
            <a:r>
              <a:rPr lang="en-US" sz="1150" dirty="0" smtClean="0">
                <a:solidFill>
                  <a:srgbClr val="152D47"/>
                </a:solidFill>
                <a:latin typeface="Crimson Pro SemiBold" pitchFamily="34" charset="0"/>
                <a:ea typeface="Crimson Pro SemiBold" pitchFamily="34" charset="-122"/>
                <a:cs typeface="Crimson Pro SemiBold" pitchFamily="34" charset="-120"/>
              </a:rPr>
              <a:t>Do Threshold breaches occur Randomly?</a:t>
            </a:r>
            <a:endParaRPr lang="en-US" sz="1150" dirty="0"/>
          </a:p>
        </p:txBody>
      </p:sp>
      <p:sp>
        <p:nvSpPr>
          <p:cNvPr id="11" name="Shape 7"/>
          <p:cNvSpPr/>
          <p:nvPr/>
        </p:nvSpPr>
        <p:spPr>
          <a:xfrm>
            <a:off x="477384" y="4520074"/>
            <a:ext cx="8151763" cy="513368"/>
          </a:xfrm>
          <a:prstGeom prst="roundRect">
            <a:avLst>
              <a:gd name="adj" fmla="val 2733"/>
            </a:avLst>
          </a:prstGeom>
          <a:solidFill>
            <a:srgbClr val="CCD7FF"/>
          </a:solidFill>
          <a:ln/>
        </p:spPr>
      </p:sp>
      <p:pic>
        <p:nvPicPr>
          <p:cNvPr id="12" name="Image 2" descr="preencoded.png"/>
          <p:cNvPicPr>
            <a:picLocks noChangeAspect="1"/>
          </p:cNvPicPr>
          <p:nvPr/>
        </p:nvPicPr>
        <p:blipFill>
          <a:blip r:embed="rId3"/>
          <a:stretch>
            <a:fillRect/>
          </a:stretch>
        </p:blipFill>
        <p:spPr>
          <a:xfrm>
            <a:off x="554535" y="4635756"/>
            <a:ext cx="150168" cy="120104"/>
          </a:xfrm>
          <a:prstGeom prst="rect">
            <a:avLst/>
          </a:prstGeom>
        </p:spPr>
      </p:pic>
      <p:sp>
        <p:nvSpPr>
          <p:cNvPr id="13" name="Text 8"/>
          <p:cNvSpPr/>
          <p:nvPr/>
        </p:nvSpPr>
        <p:spPr>
          <a:xfrm>
            <a:off x="781854" y="4603032"/>
            <a:ext cx="7745923" cy="430410"/>
          </a:xfrm>
          <a:prstGeom prst="rect">
            <a:avLst/>
          </a:prstGeom>
          <a:noFill/>
          <a:ln/>
        </p:spPr>
        <p:txBody>
          <a:bodyPr wrap="square" lIns="0" tIns="0" rIns="0" bIns="0" rtlCol="0" anchor="t">
            <a:normAutofit/>
          </a:bodyPr>
          <a:lstStyle/>
          <a:p>
            <a:pPr>
              <a:lnSpc>
                <a:spcPct val="131000"/>
              </a:lnSpc>
            </a:pPr>
            <a:r>
              <a:rPr lang="en-US" sz="1100" b="1" dirty="0">
                <a:solidFill>
                  <a:srgbClr val="000000"/>
                </a:solidFill>
                <a:latin typeface="Heebo Bold" pitchFamily="34" charset="0"/>
                <a:ea typeface="Heebo Bold" pitchFamily="34" charset="-122"/>
                <a:cs typeface="Heebo Bold" pitchFamily="34" charset="-120"/>
              </a:rPr>
              <a:t>Operational Implication:</a:t>
            </a:r>
            <a:r>
              <a:rPr lang="en-US" sz="1100" dirty="0">
                <a:solidFill>
                  <a:srgbClr val="000000"/>
                </a:solidFill>
                <a:latin typeface="Heebo" pitchFamily="34" charset="0"/>
                <a:ea typeface="Heebo" pitchFamily="34" charset="-122"/>
                <a:cs typeface="Heebo" pitchFamily="34" charset="-120"/>
              </a:rPr>
              <a:t> Customer DP deterioration follows identifiable operational patterns rather than random events. </a:t>
            </a:r>
            <a:r>
              <a:rPr lang="en-US" sz="1100" dirty="0" smtClean="0">
                <a:solidFill>
                  <a:srgbClr val="000000"/>
                </a:solidFill>
                <a:latin typeface="Heebo" pitchFamily="34" charset="0"/>
                <a:ea typeface="Heebo" pitchFamily="34" charset="-122"/>
                <a:cs typeface="Heebo" pitchFamily="34" charset="-120"/>
              </a:rPr>
              <a:t>From an Operational Perspective, because predictable problems can be proactively managed</a:t>
            </a:r>
            <a:r>
              <a:rPr lang="en-US" sz="900" dirty="0" smtClean="0">
                <a:solidFill>
                  <a:srgbClr val="000000"/>
                </a:solidFill>
                <a:latin typeface="Heebo" pitchFamily="34" charset="0"/>
                <a:ea typeface="Heebo" pitchFamily="34" charset="-122"/>
                <a:cs typeface="Heebo" pitchFamily="34" charset="-120"/>
              </a:rPr>
              <a:t>.</a:t>
            </a:r>
            <a:endParaRPr lang="en-US" sz="900"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6108" y="935328"/>
            <a:ext cx="8771466" cy="3117693"/>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341114"/>
            <a:ext cx="1525414" cy="182538"/>
          </a:xfrm>
          <a:prstGeom prst="roundRect">
            <a:avLst>
              <a:gd name="adj" fmla="val 7900"/>
            </a:avLst>
          </a:prstGeom>
          <a:solidFill>
            <a:srgbClr val="CCD7FF"/>
          </a:solidFill>
          <a:ln/>
        </p:spPr>
      </p:sp>
      <p:sp>
        <p:nvSpPr>
          <p:cNvPr id="3" name="Text 1"/>
          <p:cNvSpPr/>
          <p:nvPr/>
        </p:nvSpPr>
        <p:spPr>
          <a:xfrm>
            <a:off x="568151" y="377130"/>
            <a:ext cx="1838548" cy="110505"/>
          </a:xfrm>
          <a:prstGeom prst="rect">
            <a:avLst/>
          </a:prstGeom>
          <a:noFill/>
          <a:ln/>
        </p:spPr>
        <p:txBody>
          <a:bodyPr wrap="none" lIns="0" tIns="0" rIns="0" bIns="0" rtlCol="0" anchor="t"/>
          <a:lstStyle/>
          <a:p>
            <a:pPr marL="0" indent="0" algn="l">
              <a:lnSpc>
                <a:spcPct val="96000"/>
              </a:lnSpc>
              <a:buNone/>
            </a:pPr>
            <a:r>
              <a:rPr lang="en-US" sz="750" dirty="0">
                <a:solidFill>
                  <a:srgbClr val="4C4C4D"/>
                </a:solidFill>
                <a:latin typeface="Heebo" pitchFamily="34" charset="0"/>
                <a:ea typeface="Heebo" pitchFamily="34" charset="-122"/>
                <a:cs typeface="Heebo" pitchFamily="34" charset="-120"/>
              </a:rPr>
              <a:t>TEMPORAL PATTERN ANALYSIS</a:t>
            </a:r>
            <a:endParaRPr lang="en-US" sz="750" dirty="0"/>
          </a:p>
        </p:txBody>
      </p:sp>
      <p:sp>
        <p:nvSpPr>
          <p:cNvPr id="4" name="Text 2"/>
          <p:cNvSpPr/>
          <p:nvPr/>
        </p:nvSpPr>
        <p:spPr>
          <a:xfrm>
            <a:off x="496119" y="570161"/>
            <a:ext cx="8151763" cy="375493"/>
          </a:xfrm>
          <a:prstGeom prst="rect">
            <a:avLst/>
          </a:prstGeom>
          <a:noFill/>
          <a:ln/>
        </p:spPr>
        <p:txBody>
          <a:bodyPr wrap="none" lIns="0" tIns="0" rIns="0" bIns="0" rtlCol="0" anchor="t"/>
          <a:lstStyle/>
          <a:p>
            <a:pPr marL="0" indent="0" algn="l">
              <a:lnSpc>
                <a:spcPct val="104000"/>
              </a:lnSpc>
              <a:buNone/>
            </a:pPr>
            <a:r>
              <a:rPr lang="en-US" sz="2350" dirty="0" smtClean="0">
                <a:solidFill>
                  <a:srgbClr val="152D47"/>
                </a:solidFill>
                <a:latin typeface="Crimson Pro SemiBold" pitchFamily="34" charset="0"/>
                <a:ea typeface="Crimson Pro SemiBold" pitchFamily="34" charset="-122"/>
                <a:cs typeface="Crimson Pro SemiBold" pitchFamily="34" charset="-120"/>
              </a:rPr>
              <a:t>Customer DP Risk Follows the Daily Demand Cycle</a:t>
            </a:r>
            <a:endParaRPr lang="en-US" sz="2350" dirty="0"/>
          </a:p>
        </p:txBody>
      </p:sp>
      <p:sp>
        <p:nvSpPr>
          <p:cNvPr id="5" name="Text 3"/>
          <p:cNvSpPr/>
          <p:nvPr/>
        </p:nvSpPr>
        <p:spPr>
          <a:xfrm>
            <a:off x="496119" y="965926"/>
            <a:ext cx="3929286" cy="187747"/>
          </a:xfrm>
          <a:prstGeom prst="rect">
            <a:avLst/>
          </a:prstGeom>
          <a:noFill/>
          <a:ln/>
        </p:spPr>
        <p:txBody>
          <a:bodyPr wrap="none" lIns="0" tIns="0" rIns="0" bIns="0" rtlCol="0" anchor="t"/>
          <a:lstStyle/>
          <a:p>
            <a:pPr marL="0" indent="0" algn="l">
              <a:lnSpc>
                <a:spcPct val="104000"/>
              </a:lnSpc>
              <a:buNone/>
            </a:pPr>
            <a:r>
              <a:rPr lang="en-US" sz="1150" dirty="0" smtClean="0">
                <a:solidFill>
                  <a:srgbClr val="152D47"/>
                </a:solidFill>
                <a:latin typeface="Crimson Pro SemiBold" pitchFamily="34" charset="0"/>
                <a:ea typeface="Crimson Pro SemiBold" pitchFamily="34" charset="-122"/>
                <a:cs typeface="Crimson Pro SemiBold" pitchFamily="34" charset="-120"/>
              </a:rPr>
              <a:t>When Does Customer Risk Increase?</a:t>
            </a:r>
            <a:endParaRPr lang="en-US" sz="1150" dirty="0"/>
          </a:p>
        </p:txBody>
      </p:sp>
      <p:pic>
        <p:nvPicPr>
          <p:cNvPr id="6" name="Image 0" descr="preencoded.png"/>
          <p:cNvPicPr>
            <a:picLocks noChangeAspect="1"/>
          </p:cNvPicPr>
          <p:nvPr/>
        </p:nvPicPr>
        <p:blipFill>
          <a:blip r:embed="rId3"/>
          <a:stretch>
            <a:fillRect/>
          </a:stretch>
        </p:blipFill>
        <p:spPr>
          <a:xfrm>
            <a:off x="496118" y="1173945"/>
            <a:ext cx="8151764" cy="2666641"/>
          </a:xfrm>
          <a:prstGeom prst="rect">
            <a:avLst/>
          </a:prstGeom>
        </p:spPr>
      </p:pic>
      <p:sp>
        <p:nvSpPr>
          <p:cNvPr id="7" name="Text 4"/>
          <p:cNvSpPr/>
          <p:nvPr/>
        </p:nvSpPr>
        <p:spPr>
          <a:xfrm>
            <a:off x="766391" y="3902702"/>
            <a:ext cx="7896041" cy="376110"/>
          </a:xfrm>
          <a:prstGeom prst="rect">
            <a:avLst/>
          </a:prstGeom>
          <a:noFill/>
          <a:ln/>
        </p:spPr>
        <p:txBody>
          <a:bodyPr wrap="square" lIns="0" tIns="0" rIns="0" bIns="0" rtlCol="0" anchor="t">
            <a:normAutofit/>
          </a:bodyPr>
          <a:lstStyle/>
          <a:p>
            <a:pPr>
              <a:lnSpc>
                <a:spcPct val="131000"/>
              </a:lnSpc>
            </a:pPr>
            <a:r>
              <a:rPr lang="en-US" sz="800" dirty="0"/>
              <a:t>Customer DP risk peaks during the early-to-mid afternoon, aligning closely with the system's highest cooling demand.</a:t>
            </a:r>
            <a:endParaRPr lang="en-US" sz="750" dirty="0"/>
          </a:p>
        </p:txBody>
      </p:sp>
      <p:sp>
        <p:nvSpPr>
          <p:cNvPr id="11" name="Shape 7"/>
          <p:cNvSpPr/>
          <p:nvPr/>
        </p:nvSpPr>
        <p:spPr>
          <a:xfrm>
            <a:off x="496119" y="4327190"/>
            <a:ext cx="8151763" cy="816309"/>
          </a:xfrm>
          <a:prstGeom prst="roundRect">
            <a:avLst>
              <a:gd name="adj" fmla="val 2733"/>
            </a:avLst>
          </a:prstGeom>
          <a:solidFill>
            <a:srgbClr val="CCD7FF"/>
          </a:solidFill>
          <a:ln/>
        </p:spPr>
      </p:sp>
      <p:pic>
        <p:nvPicPr>
          <p:cNvPr id="12" name="Image 2" descr="preencoded.png"/>
          <p:cNvPicPr>
            <a:picLocks noChangeAspect="1"/>
          </p:cNvPicPr>
          <p:nvPr/>
        </p:nvPicPr>
        <p:blipFill>
          <a:blip r:embed="rId4"/>
          <a:stretch>
            <a:fillRect/>
          </a:stretch>
        </p:blipFill>
        <p:spPr>
          <a:xfrm>
            <a:off x="616223" y="4388198"/>
            <a:ext cx="150168" cy="120104"/>
          </a:xfrm>
          <a:prstGeom prst="rect">
            <a:avLst/>
          </a:prstGeom>
        </p:spPr>
      </p:pic>
      <p:sp>
        <p:nvSpPr>
          <p:cNvPr id="13" name="Text 8"/>
          <p:cNvSpPr/>
          <p:nvPr/>
        </p:nvSpPr>
        <p:spPr>
          <a:xfrm>
            <a:off x="886495" y="4376236"/>
            <a:ext cx="7641282" cy="659532"/>
          </a:xfrm>
          <a:prstGeom prst="rect">
            <a:avLst/>
          </a:prstGeom>
          <a:noFill/>
          <a:ln/>
        </p:spPr>
        <p:txBody>
          <a:bodyPr wrap="square" lIns="0" tIns="0" rIns="0" bIns="0" rtlCol="0" anchor="t">
            <a:normAutofit/>
          </a:bodyPr>
          <a:lstStyle/>
          <a:p>
            <a:pPr>
              <a:lnSpc>
                <a:spcPct val="131000"/>
              </a:lnSpc>
            </a:pPr>
            <a:r>
              <a:rPr lang="en-US" sz="800" b="1" dirty="0">
                <a:solidFill>
                  <a:srgbClr val="000000"/>
                </a:solidFill>
                <a:latin typeface="Heebo" panose="020B0604020202020204" charset="-79"/>
                <a:ea typeface="Heebo Bold" pitchFamily="34" charset="-122"/>
                <a:cs typeface="Heebo" panose="020B0604020202020204" charset="-79"/>
              </a:rPr>
              <a:t>Operational Implication</a:t>
            </a:r>
            <a:r>
              <a:rPr lang="en-US" sz="900" b="1" dirty="0">
                <a:solidFill>
                  <a:srgbClr val="000000"/>
                </a:solidFill>
                <a:latin typeface="Heebo" panose="020B0604020202020204" charset="-79"/>
                <a:ea typeface="Heebo Bold" pitchFamily="34" charset="-122"/>
                <a:cs typeface="Heebo" panose="020B0604020202020204" charset="-79"/>
              </a:rPr>
              <a:t>:</a:t>
            </a:r>
            <a:r>
              <a:rPr lang="en-US" sz="900" dirty="0">
                <a:solidFill>
                  <a:srgbClr val="000000"/>
                </a:solidFill>
                <a:latin typeface="Heebo" panose="020B0604020202020204" charset="-79"/>
                <a:ea typeface="Heebo" pitchFamily="34" charset="-122"/>
                <a:cs typeface="Heebo" panose="020B0604020202020204" charset="-79"/>
              </a:rPr>
              <a:t> </a:t>
            </a:r>
            <a:r>
              <a:rPr lang="en-US" sz="700" dirty="0">
                <a:latin typeface="Heebo" panose="020B0604020202020204" charset="-79"/>
                <a:cs typeface="Heebo" panose="020B0604020202020204" charset="-79"/>
              </a:rPr>
              <a:t>Since </a:t>
            </a:r>
            <a:r>
              <a:rPr lang="en-US" sz="700" dirty="0" smtClean="0">
                <a:latin typeface="Heebo" panose="020B0604020202020204" charset="-79"/>
                <a:cs typeface="Heebo" panose="020B0604020202020204" charset="-79"/>
              </a:rPr>
              <a:t>DP </a:t>
            </a:r>
            <a:r>
              <a:rPr lang="en-US" sz="700" dirty="0">
                <a:latin typeface="Heebo" panose="020B0604020202020204" charset="-79"/>
                <a:cs typeface="Heebo" panose="020B0604020202020204" charset="-79"/>
              </a:rPr>
              <a:t>problems cluster predictably in the 1pm–4pm window (and to a lesser extent around 6-7am), operations doesn't need to monitor </a:t>
            </a:r>
            <a:r>
              <a:rPr lang="en-US" sz="700" dirty="0" smtClean="0">
                <a:latin typeface="Heebo" panose="020B0604020202020204" charset="-79"/>
                <a:cs typeface="Heebo" panose="020B0604020202020204" charset="-79"/>
              </a:rPr>
              <a:t>DP</a:t>
            </a:r>
            <a:r>
              <a:rPr lang="en-US" sz="700" dirty="0" smtClean="0">
                <a:latin typeface="Heebo" panose="020B0604020202020204" charset="-79"/>
                <a:cs typeface="Heebo" panose="020B0604020202020204" charset="-79"/>
              </a:rPr>
              <a:t> </a:t>
            </a:r>
            <a:r>
              <a:rPr lang="en-US" sz="700" dirty="0">
                <a:latin typeface="Heebo" panose="020B0604020202020204" charset="-79"/>
                <a:cs typeface="Heebo" panose="020B0604020202020204" charset="-79"/>
              </a:rPr>
              <a:t>equally hard all day — it can shift to </a:t>
            </a:r>
            <a:r>
              <a:rPr lang="en-US" sz="700" b="1" dirty="0">
                <a:latin typeface="Heebo" panose="020B0604020202020204" charset="-79"/>
                <a:cs typeface="Heebo" panose="020B0604020202020204" charset="-79"/>
              </a:rPr>
              <a:t>active, closer monitoring specifically during those peak hours</a:t>
            </a:r>
            <a:r>
              <a:rPr lang="en-US" sz="700" dirty="0">
                <a:latin typeface="Heebo" panose="020B0604020202020204" charset="-79"/>
                <a:cs typeface="Heebo" panose="020B0604020202020204" charset="-79"/>
              </a:rPr>
              <a:t> (real-time 5-minute checks, staff attention, maybe pre-emptive adjustments before 1pm), while relying on lighter, hourly-level monitoring the rest of the day. </a:t>
            </a:r>
            <a:r>
              <a:rPr lang="en-US" sz="700" dirty="0" smtClean="0">
                <a:latin typeface="Heebo" panose="020B0604020202020204" charset="-79"/>
                <a:cs typeface="Heebo" panose="020B0604020202020204" charset="-79"/>
              </a:rPr>
              <a:t>This enables m</a:t>
            </a:r>
            <a:r>
              <a:rPr lang="en-US" sz="700" dirty="0" smtClean="0">
                <a:latin typeface="Heebo" panose="020B0604020202020204" charset="-79"/>
                <a:cs typeface="Heebo" panose="020B0604020202020204" charset="-79"/>
              </a:rPr>
              <a:t>ore </a:t>
            </a:r>
            <a:r>
              <a:rPr lang="en-US" sz="700" dirty="0">
                <a:latin typeface="Heebo" panose="020B0604020202020204" charset="-79"/>
                <a:cs typeface="Heebo" panose="020B0604020202020204" charset="-79"/>
              </a:rPr>
              <a:t>efficient use of operator attention than treating every hour as equal risk, and it gives the team a specific, actionable window to focus corrective action or staffing on</a:t>
            </a:r>
          </a:p>
        </p:txBody>
      </p:sp>
    </p:spTree>
    <p:extLst>
      <p:ext uri="{BB962C8B-B14F-4D97-AF65-F5344CB8AC3E}">
        <p14:creationId xmlns:p14="http://schemas.microsoft.com/office/powerpoint/2010/main" val="29496235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126684"/>
            <a:ext cx="594568" cy="117649"/>
          </a:xfrm>
          <a:prstGeom prst="roundRect">
            <a:avLst>
              <a:gd name="adj" fmla="val 7908"/>
            </a:avLst>
          </a:prstGeom>
          <a:solidFill>
            <a:srgbClr val="CCD7FF"/>
          </a:solidFill>
          <a:ln/>
        </p:spPr>
      </p:sp>
      <p:sp>
        <p:nvSpPr>
          <p:cNvPr id="3" name="Text 1"/>
          <p:cNvSpPr/>
          <p:nvPr/>
        </p:nvSpPr>
        <p:spPr>
          <a:xfrm>
            <a:off x="542627" y="164774"/>
            <a:ext cx="958751" cy="71214"/>
          </a:xfrm>
          <a:prstGeom prst="rect">
            <a:avLst/>
          </a:prstGeom>
          <a:noFill/>
          <a:ln/>
        </p:spPr>
        <p:txBody>
          <a:bodyPr wrap="none" lIns="0" tIns="0" rIns="0" bIns="0" rtlCol="0" anchor="t"/>
          <a:lstStyle/>
          <a:p>
            <a:pPr marL="0" indent="0" algn="l">
              <a:lnSpc>
                <a:spcPct val="96000"/>
              </a:lnSpc>
              <a:buNone/>
            </a:pPr>
            <a:r>
              <a:rPr lang="en-US" sz="450" dirty="0">
                <a:solidFill>
                  <a:srgbClr val="4C4C4D"/>
                </a:solidFill>
                <a:latin typeface="Heebo" pitchFamily="34" charset="0"/>
                <a:ea typeface="Heebo" pitchFamily="34" charset="-122"/>
                <a:cs typeface="Heebo" pitchFamily="34" charset="-120"/>
              </a:rPr>
              <a:t>DRIVER ANALYSIS</a:t>
            </a:r>
            <a:endParaRPr lang="en-US" sz="450" dirty="0"/>
          </a:p>
        </p:txBody>
      </p:sp>
      <p:sp>
        <p:nvSpPr>
          <p:cNvPr id="4" name="Text 2"/>
          <p:cNvSpPr/>
          <p:nvPr/>
        </p:nvSpPr>
        <p:spPr>
          <a:xfrm>
            <a:off x="496119" y="241380"/>
            <a:ext cx="8151763" cy="242292"/>
          </a:xfrm>
          <a:prstGeom prst="rect">
            <a:avLst/>
          </a:prstGeom>
          <a:noFill/>
          <a:ln/>
        </p:spPr>
        <p:txBody>
          <a:bodyPr wrap="none" lIns="0" tIns="0" rIns="0" bIns="0" rtlCol="0" anchor="t"/>
          <a:lstStyle/>
          <a:p>
            <a:pPr marL="0" indent="0" algn="l">
              <a:lnSpc>
                <a:spcPct val="104000"/>
              </a:lnSpc>
              <a:buNone/>
            </a:pPr>
            <a:r>
              <a:rPr lang="en-US" sz="1500" dirty="0" smtClean="0">
                <a:solidFill>
                  <a:srgbClr val="152D47"/>
                </a:solidFill>
                <a:latin typeface="Crimson Pro SemiBold" pitchFamily="34" charset="0"/>
                <a:ea typeface="Crimson Pro SemiBold" pitchFamily="34" charset="-122"/>
                <a:cs typeface="Crimson Pro SemiBold" pitchFamily="34" charset="-120"/>
              </a:rPr>
              <a:t>What Are </a:t>
            </a:r>
            <a:r>
              <a:rPr lang="en-US" sz="1500" dirty="0">
                <a:solidFill>
                  <a:srgbClr val="152D47"/>
                </a:solidFill>
                <a:latin typeface="Crimson Pro SemiBold" pitchFamily="34" charset="0"/>
                <a:ea typeface="Crimson Pro SemiBold" pitchFamily="34" charset="-122"/>
                <a:cs typeface="Crimson Pro SemiBold" pitchFamily="34" charset="-120"/>
              </a:rPr>
              <a:t>the Main DP </a:t>
            </a:r>
            <a:r>
              <a:rPr lang="en-US" sz="1500" dirty="0" smtClean="0">
                <a:solidFill>
                  <a:srgbClr val="152D47"/>
                </a:solidFill>
                <a:latin typeface="Crimson Pro SemiBold" pitchFamily="34" charset="0"/>
                <a:ea typeface="Crimson Pro SemiBold" pitchFamily="34" charset="-122"/>
                <a:cs typeface="Crimson Pro SemiBold" pitchFamily="34" charset="-120"/>
              </a:rPr>
              <a:t>Drivers ?</a:t>
            </a:r>
            <a:endParaRPr lang="en-US" sz="1500" dirty="0"/>
          </a:p>
        </p:txBody>
      </p:sp>
      <p:grpSp>
        <p:nvGrpSpPr>
          <p:cNvPr id="31" name="Group 30"/>
          <p:cNvGrpSpPr/>
          <p:nvPr/>
        </p:nvGrpSpPr>
        <p:grpSpPr>
          <a:xfrm>
            <a:off x="7467269" y="1023591"/>
            <a:ext cx="1467097" cy="404310"/>
            <a:chOff x="7579007" y="1552234"/>
            <a:chExt cx="1578187" cy="755335"/>
          </a:xfrm>
        </p:grpSpPr>
        <p:grpSp>
          <p:nvGrpSpPr>
            <p:cNvPr id="23" name="Group 22"/>
            <p:cNvGrpSpPr/>
            <p:nvPr/>
          </p:nvGrpSpPr>
          <p:grpSpPr>
            <a:xfrm>
              <a:off x="7579007" y="1552234"/>
              <a:ext cx="1578187" cy="755335"/>
              <a:chOff x="4741383" y="3604460"/>
              <a:chExt cx="3978994" cy="443880"/>
            </a:xfrm>
          </p:grpSpPr>
          <p:sp>
            <p:nvSpPr>
              <p:cNvPr id="24" name="Shape 18"/>
              <p:cNvSpPr/>
              <p:nvPr/>
            </p:nvSpPr>
            <p:spPr>
              <a:xfrm>
                <a:off x="4741383" y="3604460"/>
                <a:ext cx="3978994" cy="443880"/>
              </a:xfrm>
              <a:prstGeom prst="roundRect">
                <a:avLst>
                  <a:gd name="adj" fmla="val 2685"/>
                </a:avLst>
              </a:prstGeom>
              <a:solidFill>
                <a:srgbClr val="FCF2B5"/>
              </a:solidFill>
              <a:ln/>
            </p:spPr>
          </p:sp>
          <p:pic>
            <p:nvPicPr>
              <p:cNvPr id="25" name="Image 1" descr="preencoded.png"/>
              <p:cNvPicPr>
                <a:picLocks noChangeAspect="1"/>
              </p:cNvPicPr>
              <p:nvPr/>
            </p:nvPicPr>
            <p:blipFill>
              <a:blip r:embed="rId3"/>
              <a:stretch>
                <a:fillRect/>
              </a:stretch>
            </p:blipFill>
            <p:spPr>
              <a:xfrm>
                <a:off x="4770714" y="3700839"/>
                <a:ext cx="183561" cy="146822"/>
              </a:xfrm>
              <a:prstGeom prst="rect">
                <a:avLst/>
              </a:prstGeom>
            </p:spPr>
          </p:pic>
          <p:sp>
            <p:nvSpPr>
              <p:cNvPr id="26" name="Text 19"/>
              <p:cNvSpPr/>
              <p:nvPr/>
            </p:nvSpPr>
            <p:spPr>
              <a:xfrm>
                <a:off x="5011117" y="3686101"/>
                <a:ext cx="3641527" cy="312762"/>
              </a:xfrm>
              <a:prstGeom prst="rect">
                <a:avLst/>
              </a:prstGeom>
              <a:noFill/>
              <a:ln/>
            </p:spPr>
            <p:txBody>
              <a:bodyPr wrap="square" lIns="0" tIns="0" rIns="0" bIns="0" rtlCol="0" anchor="t">
                <a:noAutofit/>
              </a:bodyPr>
              <a:lstStyle/>
              <a:p>
                <a:pPr marL="0" indent="0" algn="l">
                  <a:lnSpc>
                    <a:spcPct val="109000"/>
                  </a:lnSpc>
                  <a:buNone/>
                </a:pPr>
                <a:endParaRPr lang="en-US" sz="600" dirty="0"/>
              </a:p>
            </p:txBody>
          </p:sp>
        </p:grpSp>
        <p:sp>
          <p:nvSpPr>
            <p:cNvPr id="7" name="Text 4"/>
            <p:cNvSpPr/>
            <p:nvPr/>
          </p:nvSpPr>
          <p:spPr>
            <a:xfrm>
              <a:off x="7730806" y="1653488"/>
              <a:ext cx="1354709" cy="312593"/>
            </a:xfrm>
            <a:prstGeom prst="rect">
              <a:avLst/>
            </a:prstGeom>
            <a:noFill/>
            <a:ln/>
          </p:spPr>
          <p:txBody>
            <a:bodyPr wrap="square" lIns="0" tIns="0" rIns="0" bIns="0" rtlCol="0" anchor="t"/>
            <a:lstStyle/>
            <a:p>
              <a:pPr>
                <a:lnSpc>
                  <a:spcPct val="104000"/>
                </a:lnSpc>
              </a:pPr>
              <a:r>
                <a:rPr lang="en-US" sz="600" dirty="0"/>
                <a:t>SHAP analysis independently confirmed Humidex and system flow as the two most influential variables overall</a:t>
              </a:r>
              <a:endParaRPr lang="en-US" sz="600" dirty="0">
                <a:solidFill>
                  <a:srgbClr val="152D47"/>
                </a:solidFill>
                <a:latin typeface="Heebo" panose="020B0604020202020204" charset="-79"/>
                <a:ea typeface="Crimson Pro SemiBold" pitchFamily="34" charset="-122"/>
                <a:cs typeface="Heebo" panose="020B0604020202020204" charset="-79"/>
              </a:endParaRPr>
            </a:p>
          </p:txBody>
        </p:sp>
      </p:grpSp>
      <p:pic>
        <p:nvPicPr>
          <p:cNvPr id="10" name="Image 2" descr="preencoded.png"/>
          <p:cNvPicPr>
            <a:picLocks noChangeAspect="1"/>
          </p:cNvPicPr>
          <p:nvPr/>
        </p:nvPicPr>
        <p:blipFill>
          <a:blip r:embed="rId4">
            <a:extLst>
              <a:ext uri="{96DAC541-7B7A-43D3-8B79-37D633B846F1}">
                <asvg:svgBlip xmlns="" xmlns:asvg="http://schemas.microsoft.com/office/drawing/2016/SVG/main" r:embed="rId6"/>
              </a:ext>
            </a:extLst>
          </a:blip>
          <a:stretch>
            <a:fillRect/>
          </a:stretch>
        </p:blipFill>
        <p:spPr>
          <a:xfrm>
            <a:off x="267630" y="3728121"/>
            <a:ext cx="2874670" cy="624601"/>
          </a:xfrm>
          <a:prstGeom prst="rect">
            <a:avLst/>
          </a:prstGeom>
        </p:spPr>
      </p:pic>
      <p:sp>
        <p:nvSpPr>
          <p:cNvPr id="11" name="Text 6"/>
          <p:cNvSpPr/>
          <p:nvPr/>
        </p:nvSpPr>
        <p:spPr>
          <a:xfrm>
            <a:off x="356383" y="3760823"/>
            <a:ext cx="2724197" cy="143880"/>
          </a:xfrm>
          <a:prstGeom prst="rect">
            <a:avLst/>
          </a:prstGeom>
          <a:noFill/>
          <a:ln/>
        </p:spPr>
        <p:txBody>
          <a:bodyPr wrap="none" lIns="0" tIns="0" rIns="0" bIns="0" rtlCol="0" anchor="t"/>
          <a:lstStyle/>
          <a:p>
            <a:pPr marL="0" indent="0" algn="l">
              <a:lnSpc>
                <a:spcPct val="104000"/>
              </a:lnSpc>
              <a:buNone/>
            </a:pPr>
            <a:r>
              <a:rPr lang="en-US" sz="750" dirty="0">
                <a:solidFill>
                  <a:srgbClr val="2150FE"/>
                </a:solidFill>
                <a:latin typeface="Crimson Pro SemiBold" pitchFamily="34" charset="0"/>
                <a:ea typeface="Crimson Pro SemiBold" pitchFamily="34" charset="-122"/>
                <a:cs typeface="Crimson Pro SemiBold" pitchFamily="34" charset="-120"/>
              </a:rPr>
              <a:t>Humidex (</a:t>
            </a:r>
            <a:r>
              <a:rPr lang="en-US" sz="750" dirty="0" smtClean="0">
                <a:solidFill>
                  <a:srgbClr val="2150FE"/>
                </a:solidFill>
                <a:latin typeface="Crimson Pro SemiBold" pitchFamily="34" charset="0"/>
                <a:ea typeface="Crimson Pro SemiBold" pitchFamily="34" charset="-122"/>
                <a:cs typeface="Crimson Pro SemiBold" pitchFamily="34" charset="-120"/>
              </a:rPr>
              <a:t>−3.5)</a:t>
            </a:r>
            <a:r>
              <a:rPr lang="en-US" sz="750" dirty="0" smtClean="0">
                <a:solidFill>
                  <a:srgbClr val="4C4C4D"/>
                </a:solidFill>
                <a:latin typeface="Crimson Pro SemiBold" pitchFamily="34" charset="0"/>
                <a:ea typeface="Crimson Pro SemiBold" pitchFamily="34" charset="-122"/>
                <a:cs typeface="Crimson Pro SemiBold" pitchFamily="34" charset="-120"/>
              </a:rPr>
              <a:t> </a:t>
            </a:r>
            <a:r>
              <a:rPr lang="en-US" sz="750" dirty="0">
                <a:solidFill>
                  <a:srgbClr val="4C4C4D"/>
                </a:solidFill>
                <a:latin typeface="Crimson Pro SemiBold" pitchFamily="34" charset="0"/>
                <a:ea typeface="Crimson Pro SemiBold" pitchFamily="34" charset="-122"/>
                <a:cs typeface="Crimson Pro SemiBold" pitchFamily="34" charset="-120"/>
              </a:rPr>
              <a:t>— Strongest Negative Driver</a:t>
            </a:r>
            <a:endParaRPr lang="en-US" sz="750" dirty="0"/>
          </a:p>
        </p:txBody>
      </p:sp>
      <p:sp>
        <p:nvSpPr>
          <p:cNvPr id="12" name="Text 7"/>
          <p:cNvSpPr/>
          <p:nvPr/>
        </p:nvSpPr>
        <p:spPr>
          <a:xfrm>
            <a:off x="356383" y="3874112"/>
            <a:ext cx="2724197" cy="239476"/>
          </a:xfrm>
          <a:prstGeom prst="rect">
            <a:avLst/>
          </a:prstGeom>
          <a:noFill/>
          <a:ln/>
        </p:spPr>
        <p:txBody>
          <a:bodyPr wrap="square" lIns="0" tIns="0" rIns="0" bIns="0" rtlCol="0" anchor="t">
            <a:noAutofit/>
          </a:bodyPr>
          <a:lstStyle/>
          <a:p>
            <a:pPr>
              <a:lnSpc>
                <a:spcPct val="108000"/>
              </a:lnSpc>
            </a:pPr>
            <a:r>
              <a:rPr lang="en-US" sz="700" dirty="0">
                <a:solidFill>
                  <a:srgbClr val="4C4C4D"/>
                </a:solidFill>
                <a:latin typeface="Heebo" pitchFamily="34" charset="0"/>
                <a:ea typeface="Heebo" pitchFamily="34" charset="-122"/>
                <a:cs typeface="Heebo" pitchFamily="34" charset="-120"/>
              </a:rPr>
              <a:t>After accounting for flow, plant production, output pressure, and time effects, higher Humidex is associated with lower customer DP. This indicates that hot and humid conditions place the greatest overall pressure on DP performance</a:t>
            </a:r>
            <a:r>
              <a:rPr lang="en-US" sz="700" dirty="0">
                <a:latin typeface="Heebo" panose="020B0604020202020204" charset="-79"/>
                <a:cs typeface="Heebo" panose="020B0604020202020204" charset="-79"/>
              </a:rPr>
              <a:t>.</a:t>
            </a:r>
            <a:endParaRPr lang="en-US" sz="600" dirty="0">
              <a:solidFill>
                <a:srgbClr val="4C4C4D"/>
              </a:solidFill>
              <a:latin typeface="Heebo" panose="020B0604020202020204" charset="-79"/>
              <a:ea typeface="Heebo" pitchFamily="34" charset="-122"/>
              <a:cs typeface="Heebo" panose="020B0604020202020204" charset="-79"/>
            </a:endParaRPr>
          </a:p>
        </p:txBody>
      </p:sp>
      <p:pic>
        <p:nvPicPr>
          <p:cNvPr id="13" name="Image 3" descr="preencoded.png"/>
          <p:cNvPicPr>
            <a:picLocks noChangeAspect="1"/>
          </p:cNvPicPr>
          <p:nvPr/>
        </p:nvPicPr>
        <p:blipFill>
          <a:blip r:embed="rId4">
            <a:extLst>
              <a:ext uri="{96DAC541-7B7A-43D3-8B79-37D633B846F1}">
                <asvg:svgBlip xmlns="" xmlns:asvg="http://schemas.microsoft.com/office/drawing/2016/SVG/main" r:embed="rId7"/>
              </a:ext>
            </a:extLst>
          </a:blip>
          <a:stretch>
            <a:fillRect/>
          </a:stretch>
        </p:blipFill>
        <p:spPr>
          <a:xfrm>
            <a:off x="3176672" y="3728121"/>
            <a:ext cx="2874723" cy="624601"/>
          </a:xfrm>
          <a:prstGeom prst="rect">
            <a:avLst/>
          </a:prstGeom>
        </p:spPr>
      </p:pic>
      <p:sp>
        <p:nvSpPr>
          <p:cNvPr id="14" name="Text 8"/>
          <p:cNvSpPr/>
          <p:nvPr/>
        </p:nvSpPr>
        <p:spPr>
          <a:xfrm>
            <a:off x="3265424" y="3751989"/>
            <a:ext cx="2724250" cy="143880"/>
          </a:xfrm>
          <a:prstGeom prst="rect">
            <a:avLst/>
          </a:prstGeom>
          <a:noFill/>
          <a:ln/>
        </p:spPr>
        <p:txBody>
          <a:bodyPr wrap="none" lIns="0" tIns="0" rIns="0" bIns="0" rtlCol="0" anchor="t"/>
          <a:lstStyle/>
          <a:p>
            <a:pPr marL="0" indent="0" algn="l">
              <a:lnSpc>
                <a:spcPct val="104000"/>
              </a:lnSpc>
              <a:buNone/>
            </a:pPr>
            <a:r>
              <a:rPr lang="en-US" sz="750" dirty="0">
                <a:solidFill>
                  <a:srgbClr val="2150FE"/>
                </a:solidFill>
                <a:latin typeface="Crimson Pro SemiBold" pitchFamily="34" charset="0"/>
                <a:ea typeface="Crimson Pro SemiBold" pitchFamily="34" charset="-122"/>
                <a:cs typeface="Crimson Pro SemiBold" pitchFamily="34" charset="-120"/>
              </a:rPr>
              <a:t>System Flow (</a:t>
            </a:r>
            <a:r>
              <a:rPr lang="en-US" sz="750" dirty="0" smtClean="0">
                <a:solidFill>
                  <a:srgbClr val="2150FE"/>
                </a:solidFill>
                <a:latin typeface="Crimson Pro SemiBold" pitchFamily="34" charset="0"/>
                <a:ea typeface="Crimson Pro SemiBold" pitchFamily="34" charset="-122"/>
                <a:cs typeface="Crimson Pro SemiBold" pitchFamily="34" charset="-120"/>
              </a:rPr>
              <a:t>−2.45)</a:t>
            </a:r>
            <a:r>
              <a:rPr lang="en-US" sz="750" dirty="0" smtClean="0">
                <a:solidFill>
                  <a:srgbClr val="4C4C4D"/>
                </a:solidFill>
                <a:latin typeface="Crimson Pro SemiBold" pitchFamily="34" charset="0"/>
                <a:ea typeface="Crimson Pro SemiBold" pitchFamily="34" charset="-122"/>
                <a:cs typeface="Crimson Pro SemiBold" pitchFamily="34" charset="-120"/>
              </a:rPr>
              <a:t> </a:t>
            </a:r>
            <a:r>
              <a:rPr lang="en-US" sz="750" dirty="0">
                <a:solidFill>
                  <a:srgbClr val="4C4C4D"/>
                </a:solidFill>
                <a:latin typeface="Crimson Pro SemiBold" pitchFamily="34" charset="0"/>
                <a:ea typeface="Crimson Pro SemiBold" pitchFamily="34" charset="-122"/>
                <a:cs typeface="Crimson Pro SemiBold" pitchFamily="34" charset="-120"/>
              </a:rPr>
              <a:t>— </a:t>
            </a:r>
            <a:r>
              <a:rPr lang="en-US" sz="750" dirty="0" smtClean="0">
                <a:solidFill>
                  <a:srgbClr val="4C4C4D"/>
                </a:solidFill>
                <a:latin typeface="Crimson Pro SemiBold" pitchFamily="34" charset="0"/>
                <a:ea typeface="Crimson Pro SemiBold" pitchFamily="34" charset="-122"/>
                <a:cs typeface="Crimson Pro SemiBold" pitchFamily="34" charset="-120"/>
              </a:rPr>
              <a:t>Hydraulic </a:t>
            </a:r>
            <a:r>
              <a:rPr lang="en-US" sz="750" dirty="0">
                <a:solidFill>
                  <a:srgbClr val="4C4C4D"/>
                </a:solidFill>
                <a:latin typeface="Crimson Pro SemiBold" pitchFamily="34" charset="0"/>
                <a:ea typeface="Crimson Pro SemiBold" pitchFamily="34" charset="-122"/>
                <a:cs typeface="Crimson Pro SemiBold" pitchFamily="34" charset="-120"/>
              </a:rPr>
              <a:t>Loss Driver</a:t>
            </a:r>
            <a:endParaRPr lang="en-US" sz="750" dirty="0"/>
          </a:p>
        </p:txBody>
      </p:sp>
      <p:sp>
        <p:nvSpPr>
          <p:cNvPr id="15" name="Text 9"/>
          <p:cNvSpPr/>
          <p:nvPr/>
        </p:nvSpPr>
        <p:spPr>
          <a:xfrm>
            <a:off x="3265424" y="3895019"/>
            <a:ext cx="2724250" cy="119738"/>
          </a:xfrm>
          <a:prstGeom prst="rect">
            <a:avLst/>
          </a:prstGeom>
          <a:noFill/>
          <a:ln/>
        </p:spPr>
        <p:txBody>
          <a:bodyPr wrap="square" lIns="0" tIns="0" rIns="0" bIns="0" rtlCol="0" anchor="t"/>
          <a:lstStyle/>
          <a:p>
            <a:pPr>
              <a:lnSpc>
                <a:spcPct val="108000"/>
              </a:lnSpc>
            </a:pPr>
            <a:r>
              <a:rPr lang="en-US" sz="700" dirty="0">
                <a:solidFill>
                  <a:srgbClr val="4C4C4D"/>
                </a:solidFill>
                <a:latin typeface="Heebo" pitchFamily="34" charset="0"/>
                <a:ea typeface="Heebo" pitchFamily="34" charset="-122"/>
                <a:cs typeface="Heebo" pitchFamily="34" charset="-120"/>
              </a:rPr>
              <a:t>Higher system flow is associated with lower customer DP after controlling for the other operating conditions. This is consistent with greater hydraulic losses when the network is under heavier demand</a:t>
            </a:r>
            <a:r>
              <a:rPr lang="en-US" sz="700" dirty="0">
                <a:latin typeface="Heebo" panose="020B0604020202020204" charset="-79"/>
                <a:cs typeface="Heebo" panose="020B0604020202020204" charset="-79"/>
              </a:rPr>
              <a:t>.</a:t>
            </a:r>
            <a:endParaRPr lang="en-US" sz="400" dirty="0">
              <a:latin typeface="Heebo" panose="020B0604020202020204" charset="-79"/>
              <a:cs typeface="Heebo" panose="020B0604020202020204" charset="-79"/>
            </a:endParaRPr>
          </a:p>
        </p:txBody>
      </p:sp>
      <p:pic>
        <p:nvPicPr>
          <p:cNvPr id="16" name="Image 4" descr="preencoded.png"/>
          <p:cNvPicPr>
            <a:picLocks noChangeAspect="1"/>
          </p:cNvPicPr>
          <p:nvPr/>
        </p:nvPicPr>
        <p:blipFill>
          <a:blip r:embed="rId4">
            <a:extLst>
              <a:ext uri="{96DAC541-7B7A-43D3-8B79-37D633B846F1}">
                <asvg:svgBlip xmlns="" xmlns:asvg="http://schemas.microsoft.com/office/drawing/2016/SVG/main" r:embed="rId8"/>
              </a:ext>
            </a:extLst>
          </a:blip>
          <a:stretch>
            <a:fillRect/>
          </a:stretch>
        </p:blipFill>
        <p:spPr>
          <a:xfrm>
            <a:off x="267630" y="4410291"/>
            <a:ext cx="2874670" cy="624601"/>
          </a:xfrm>
          <a:prstGeom prst="rect">
            <a:avLst/>
          </a:prstGeom>
        </p:spPr>
      </p:pic>
      <p:sp>
        <p:nvSpPr>
          <p:cNvPr id="17" name="Text 10"/>
          <p:cNvSpPr/>
          <p:nvPr/>
        </p:nvSpPr>
        <p:spPr>
          <a:xfrm>
            <a:off x="356383" y="4436960"/>
            <a:ext cx="2724197" cy="143880"/>
          </a:xfrm>
          <a:prstGeom prst="rect">
            <a:avLst/>
          </a:prstGeom>
          <a:noFill/>
          <a:ln/>
        </p:spPr>
        <p:txBody>
          <a:bodyPr wrap="none" lIns="0" tIns="0" rIns="0" bIns="0" rtlCol="0" anchor="t"/>
          <a:lstStyle/>
          <a:p>
            <a:pPr marL="0" indent="0" algn="l">
              <a:lnSpc>
                <a:spcPct val="104000"/>
              </a:lnSpc>
              <a:buNone/>
            </a:pPr>
            <a:r>
              <a:rPr lang="en-US" sz="750" dirty="0">
                <a:solidFill>
                  <a:srgbClr val="2150FE"/>
                </a:solidFill>
                <a:latin typeface="Crimson Pro SemiBold" pitchFamily="34" charset="0"/>
                <a:ea typeface="Crimson Pro SemiBold" pitchFamily="34" charset="-122"/>
                <a:cs typeface="Crimson Pro SemiBold" pitchFamily="34" charset="-120"/>
              </a:rPr>
              <a:t>Plant 2 Tons (</a:t>
            </a:r>
            <a:r>
              <a:rPr lang="en-US" sz="750" dirty="0" smtClean="0">
                <a:solidFill>
                  <a:srgbClr val="2150FE"/>
                </a:solidFill>
                <a:latin typeface="Crimson Pro SemiBold" pitchFamily="34" charset="0"/>
                <a:ea typeface="Crimson Pro SemiBold" pitchFamily="34" charset="-122"/>
                <a:cs typeface="Crimson Pro SemiBold" pitchFamily="34" charset="-120"/>
              </a:rPr>
              <a:t>−2.53)</a:t>
            </a:r>
            <a:r>
              <a:rPr lang="en-US" sz="750" dirty="0" smtClean="0">
                <a:solidFill>
                  <a:srgbClr val="4C4C4D"/>
                </a:solidFill>
                <a:latin typeface="Crimson Pro SemiBold" pitchFamily="34" charset="0"/>
                <a:ea typeface="Crimson Pro SemiBold" pitchFamily="34" charset="-122"/>
                <a:cs typeface="Crimson Pro SemiBold" pitchFamily="34" charset="-120"/>
              </a:rPr>
              <a:t> —  Strong negative  Association</a:t>
            </a:r>
            <a:endParaRPr lang="en-US" sz="750" dirty="0"/>
          </a:p>
        </p:txBody>
      </p:sp>
      <p:sp>
        <p:nvSpPr>
          <p:cNvPr id="18" name="Text 11"/>
          <p:cNvSpPr/>
          <p:nvPr/>
        </p:nvSpPr>
        <p:spPr>
          <a:xfrm>
            <a:off x="356383" y="4569324"/>
            <a:ext cx="2724197" cy="313664"/>
          </a:xfrm>
          <a:prstGeom prst="rect">
            <a:avLst/>
          </a:prstGeom>
          <a:noFill/>
          <a:ln/>
        </p:spPr>
        <p:txBody>
          <a:bodyPr wrap="square" lIns="0" tIns="0" rIns="0" bIns="0" rtlCol="0" anchor="t">
            <a:noAutofit/>
          </a:bodyPr>
          <a:lstStyle/>
          <a:p>
            <a:pPr>
              <a:lnSpc>
                <a:spcPct val="108000"/>
              </a:lnSpc>
            </a:pPr>
            <a:r>
              <a:rPr lang="en-US" sz="700" dirty="0">
                <a:solidFill>
                  <a:srgbClr val="4C4C4D"/>
                </a:solidFill>
                <a:latin typeface="Heebo" pitchFamily="34" charset="0"/>
                <a:ea typeface="Heebo" pitchFamily="34" charset="-122"/>
                <a:cs typeface="Heebo" pitchFamily="34" charset="-120"/>
              </a:rPr>
              <a:t>Higher Plant 2 production tends to occur when customer DP is lower. Because this is an observational relationship, it should be investigated alongside plant dispatch strategy before drawing operational conclusions</a:t>
            </a:r>
            <a:r>
              <a:rPr lang="en-US" sz="700" dirty="0">
                <a:latin typeface="Heebo" panose="020B0604020202020204" charset="-79"/>
                <a:cs typeface="Heebo" panose="020B0604020202020204" charset="-79"/>
              </a:rPr>
              <a:t>.</a:t>
            </a:r>
            <a:endParaRPr lang="en-US" sz="500" dirty="0">
              <a:solidFill>
                <a:srgbClr val="4C4C4D"/>
              </a:solidFill>
              <a:latin typeface="Heebo" panose="020B0604020202020204" charset="-79"/>
              <a:ea typeface="Heebo" pitchFamily="34" charset="-122"/>
              <a:cs typeface="Heebo" panose="020B0604020202020204" charset="-79"/>
            </a:endParaRPr>
          </a:p>
        </p:txBody>
      </p:sp>
      <p:pic>
        <p:nvPicPr>
          <p:cNvPr id="19" name="Image 5" descr="preencoded.png"/>
          <p:cNvPicPr>
            <a:picLocks noChangeAspect="1"/>
          </p:cNvPicPr>
          <p:nvPr/>
        </p:nvPicPr>
        <p:blipFill>
          <a:blip r:embed="rId4">
            <a:extLst>
              <a:ext uri="{96DAC541-7B7A-43D3-8B79-37D633B846F1}">
                <asvg:svgBlip xmlns="" xmlns:asvg="http://schemas.microsoft.com/office/drawing/2016/SVG/main" r:embed="rId10"/>
              </a:ext>
            </a:extLst>
          </a:blip>
          <a:stretch>
            <a:fillRect/>
          </a:stretch>
        </p:blipFill>
        <p:spPr>
          <a:xfrm>
            <a:off x="3176672" y="4410291"/>
            <a:ext cx="2874723" cy="624601"/>
          </a:xfrm>
          <a:prstGeom prst="rect">
            <a:avLst/>
          </a:prstGeom>
        </p:spPr>
      </p:pic>
      <p:sp>
        <p:nvSpPr>
          <p:cNvPr id="20" name="Text 12"/>
          <p:cNvSpPr/>
          <p:nvPr/>
        </p:nvSpPr>
        <p:spPr>
          <a:xfrm>
            <a:off x="3265424" y="4429526"/>
            <a:ext cx="2724250" cy="143880"/>
          </a:xfrm>
          <a:prstGeom prst="rect">
            <a:avLst/>
          </a:prstGeom>
          <a:noFill/>
          <a:ln/>
        </p:spPr>
        <p:txBody>
          <a:bodyPr wrap="none" lIns="0" tIns="0" rIns="0" bIns="0" rtlCol="0" anchor="t"/>
          <a:lstStyle/>
          <a:p>
            <a:pPr marL="0" indent="0" algn="l">
              <a:lnSpc>
                <a:spcPct val="104000"/>
              </a:lnSpc>
              <a:buNone/>
            </a:pPr>
            <a:r>
              <a:rPr lang="en-US" sz="750" dirty="0">
                <a:solidFill>
                  <a:srgbClr val="2150FE"/>
                </a:solidFill>
                <a:latin typeface="Crimson Pro SemiBold" pitchFamily="34" charset="0"/>
                <a:ea typeface="Crimson Pro SemiBold" pitchFamily="34" charset="-122"/>
                <a:cs typeface="Crimson Pro SemiBold" pitchFamily="34" charset="-120"/>
              </a:rPr>
              <a:t>Output Pressure (+1.12) </a:t>
            </a:r>
            <a:r>
              <a:rPr lang="en-US" sz="750" dirty="0">
                <a:solidFill>
                  <a:srgbClr val="4C4C4D"/>
                </a:solidFill>
                <a:latin typeface="Crimson Pro SemiBold" pitchFamily="34" charset="0"/>
                <a:ea typeface="Crimson Pro SemiBold" pitchFamily="34" charset="-122"/>
                <a:cs typeface="Crimson Pro SemiBold" pitchFamily="34" charset="-120"/>
              </a:rPr>
              <a:t>— </a:t>
            </a:r>
            <a:r>
              <a:rPr lang="en-US" sz="750" dirty="0" smtClean="0">
                <a:solidFill>
                  <a:srgbClr val="4C4C4D"/>
                </a:solidFill>
                <a:latin typeface="Crimson Pro SemiBold" pitchFamily="34" charset="0"/>
                <a:ea typeface="Crimson Pro SemiBold" pitchFamily="34" charset="-122"/>
                <a:cs typeface="Crimson Pro SemiBold" pitchFamily="34" charset="-120"/>
              </a:rPr>
              <a:t> </a:t>
            </a:r>
            <a:r>
              <a:rPr lang="en-US" sz="750" dirty="0">
                <a:solidFill>
                  <a:srgbClr val="4C4C4D"/>
                </a:solidFill>
                <a:latin typeface="Crimson Pro SemiBold" pitchFamily="34" charset="0"/>
                <a:ea typeface="Crimson Pro SemiBold" pitchFamily="34" charset="-122"/>
                <a:cs typeface="Crimson Pro SemiBold" pitchFamily="34" charset="-120"/>
              </a:rPr>
              <a:t>Controllable Lever</a:t>
            </a:r>
            <a:endParaRPr lang="en-US" sz="750" dirty="0"/>
          </a:p>
        </p:txBody>
      </p:sp>
      <p:sp>
        <p:nvSpPr>
          <p:cNvPr id="21" name="Text 13"/>
          <p:cNvSpPr/>
          <p:nvPr/>
        </p:nvSpPr>
        <p:spPr>
          <a:xfrm>
            <a:off x="3258861" y="4539589"/>
            <a:ext cx="2724250" cy="239476"/>
          </a:xfrm>
          <a:prstGeom prst="rect">
            <a:avLst/>
          </a:prstGeom>
          <a:noFill/>
          <a:ln/>
        </p:spPr>
        <p:txBody>
          <a:bodyPr wrap="square" lIns="0" tIns="0" rIns="0" bIns="0" rtlCol="0" anchor="t">
            <a:noAutofit/>
          </a:bodyPr>
          <a:lstStyle/>
          <a:p>
            <a:pPr>
              <a:lnSpc>
                <a:spcPct val="108000"/>
              </a:lnSpc>
            </a:pPr>
            <a:r>
              <a:rPr lang="en-US" sz="700" dirty="0">
                <a:solidFill>
                  <a:srgbClr val="4C4C4D"/>
                </a:solidFill>
                <a:latin typeface="Heebo" pitchFamily="34" charset="0"/>
                <a:ea typeface="Heebo" pitchFamily="34" charset="-122"/>
                <a:cs typeface="Heebo" pitchFamily="34" charset="-120"/>
              </a:rPr>
              <a:t>Higher system output pressure is associated with improved customer DP after accounting for the other factors. This makes output pressure an important operational lever to review during high-risk demand periods, subject to pump and network limits</a:t>
            </a:r>
            <a:r>
              <a:rPr lang="en-US" sz="700" dirty="0" smtClean="0">
                <a:solidFill>
                  <a:srgbClr val="4C4C4D"/>
                </a:solidFill>
                <a:latin typeface="Heebo" panose="020B0604020202020204" charset="-79"/>
                <a:ea typeface="Heebo" pitchFamily="34" charset="-122"/>
                <a:cs typeface="Heebo" panose="020B0604020202020204" charset="-79"/>
              </a:rPr>
              <a:t>.</a:t>
            </a:r>
            <a:endParaRPr lang="en-US" sz="700" dirty="0">
              <a:latin typeface="Heebo" panose="020B0604020202020204" charset="-79"/>
              <a:cs typeface="Heebo" panose="020B0604020202020204" charset="-79"/>
            </a:endParaRPr>
          </a:p>
        </p:txBody>
      </p:sp>
      <p:sp>
        <p:nvSpPr>
          <p:cNvPr id="22" name="Text 14"/>
          <p:cNvSpPr/>
          <p:nvPr/>
        </p:nvSpPr>
        <p:spPr>
          <a:xfrm>
            <a:off x="471859" y="4826572"/>
            <a:ext cx="8151763" cy="316928"/>
          </a:xfrm>
          <a:prstGeom prst="rect">
            <a:avLst/>
          </a:prstGeom>
          <a:noFill/>
          <a:ln/>
        </p:spPr>
        <p:txBody>
          <a:bodyPr wrap="square" lIns="0" tIns="0" rIns="0" bIns="0" rtlCol="0" anchor="t">
            <a:noAutofit/>
          </a:bodyPr>
          <a:lstStyle/>
          <a:p>
            <a:pPr indent="0">
              <a:lnSpc>
                <a:spcPct val="108000"/>
              </a:lnSpc>
              <a:buNone/>
            </a:pPr>
            <a:endParaRPr lang="en-US" sz="700" dirty="0">
              <a:solidFill>
                <a:srgbClr val="4C4C4D"/>
              </a:solidFill>
              <a:latin typeface="Heebo" pitchFamily="34" charset="0"/>
              <a:ea typeface="Heebo" pitchFamily="34" charset="-122"/>
              <a:cs typeface="Heebo" pitchFamily="34" charset="-120"/>
            </a:endParaRPr>
          </a:p>
        </p:txBody>
      </p:sp>
      <p:pic>
        <p:nvPicPr>
          <p:cNvPr id="29" name="Picture 2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2040" y="657690"/>
            <a:ext cx="7250780" cy="3019612"/>
          </a:xfrm>
          <a:prstGeom prst="rect">
            <a:avLst/>
          </a:prstGeom>
        </p:spPr>
      </p:pic>
      <p:sp>
        <p:nvSpPr>
          <p:cNvPr id="32" name="TextBox 31"/>
          <p:cNvSpPr txBox="1"/>
          <p:nvPr/>
        </p:nvSpPr>
        <p:spPr>
          <a:xfrm>
            <a:off x="7087837" y="2285699"/>
            <a:ext cx="2114636" cy="784830"/>
          </a:xfrm>
          <a:prstGeom prst="rect">
            <a:avLst/>
          </a:prstGeom>
          <a:noFill/>
        </p:spPr>
        <p:txBody>
          <a:bodyPr wrap="square" rtlCol="0">
            <a:spAutoFit/>
          </a:bodyPr>
          <a:lstStyle/>
          <a:p>
            <a:r>
              <a:rPr lang="en-US" sz="800" b="1" dirty="0" smtClean="0">
                <a:cs typeface="Heebo" panose="020B0604020202020204" charset="-79"/>
              </a:rPr>
              <a:t>Operational takeaway</a:t>
            </a:r>
            <a:r>
              <a:rPr lang="en-US" sz="800" b="1" dirty="0" smtClean="0">
                <a:latin typeface="Heebo" panose="020B0604020202020204" charset="-79"/>
                <a:cs typeface="Heebo" panose="020B0604020202020204" charset="-79"/>
              </a:rPr>
              <a:t>:</a:t>
            </a:r>
            <a:r>
              <a:rPr lang="en-US" sz="800" dirty="0" smtClean="0">
                <a:latin typeface="Heebo" panose="020B0604020202020204" charset="-79"/>
                <a:cs typeface="Heebo" panose="020B0604020202020204" charset="-79"/>
              </a:rPr>
              <a:t> </a:t>
            </a:r>
            <a:r>
              <a:rPr lang="en-US" sz="600" dirty="0">
                <a:solidFill>
                  <a:srgbClr val="4C4C4D"/>
                </a:solidFill>
                <a:latin typeface="Heebo" pitchFamily="34" charset="0"/>
                <a:ea typeface="Heebo" pitchFamily="34" charset="-122"/>
                <a:cs typeface="Heebo" pitchFamily="34" charset="-120"/>
              </a:rPr>
              <a:t>Model explains 78.6% of </a:t>
            </a:r>
            <a:r>
              <a:rPr lang="en-US" sz="600" dirty="0" smtClean="0">
                <a:solidFill>
                  <a:srgbClr val="4C4C4D"/>
                </a:solidFill>
                <a:latin typeface="Heebo" pitchFamily="34" charset="0"/>
                <a:ea typeface="Heebo" pitchFamily="34" charset="-122"/>
                <a:cs typeface="Heebo" pitchFamily="34" charset="-120"/>
              </a:rPr>
              <a:t>the </a:t>
            </a:r>
            <a:r>
              <a:rPr lang="en-US" sz="600" dirty="0">
                <a:solidFill>
                  <a:srgbClr val="4C4C4D"/>
                </a:solidFill>
                <a:latin typeface="Heebo" pitchFamily="34" charset="0"/>
                <a:ea typeface="Heebo" pitchFamily="34" charset="-122"/>
                <a:cs typeface="Heebo" pitchFamily="34" charset="-120"/>
              </a:rPr>
              <a:t>variation in customer differential pressure. The remaining 21% is likely due to factors not included in the </a:t>
            </a:r>
            <a:r>
              <a:rPr lang="en-US" sz="600" dirty="0" smtClean="0">
                <a:solidFill>
                  <a:srgbClr val="4C4C4D"/>
                </a:solidFill>
                <a:latin typeface="Heebo" pitchFamily="34" charset="0"/>
                <a:ea typeface="Heebo" pitchFamily="34" charset="-122"/>
                <a:cs typeface="Heebo" pitchFamily="34" charset="-120"/>
              </a:rPr>
              <a:t>model. </a:t>
            </a:r>
            <a:r>
              <a:rPr lang="en-US" sz="600" dirty="0" smtClean="0">
                <a:solidFill>
                  <a:srgbClr val="4C4C4D"/>
                </a:solidFill>
                <a:latin typeface="Heebo" pitchFamily="34" charset="0"/>
                <a:ea typeface="Heebo" pitchFamily="34" charset="-122"/>
                <a:cs typeface="Heebo" pitchFamily="34" charset="-120"/>
              </a:rPr>
              <a:t>Customer </a:t>
            </a:r>
            <a:r>
              <a:rPr lang="en-US" sz="600" dirty="0">
                <a:solidFill>
                  <a:srgbClr val="4C4C4D"/>
                </a:solidFill>
                <a:latin typeface="Heebo" pitchFamily="34" charset="0"/>
                <a:ea typeface="Heebo" pitchFamily="34" charset="-122"/>
                <a:cs typeface="Heebo" pitchFamily="34" charset="-120"/>
              </a:rPr>
              <a:t>DP is most vulnerable when high Humidex and high system flow occur together. Output pressure and plant dispatch are the main controllable areas for operational review</a:t>
            </a:r>
            <a:r>
              <a:rPr lang="en-US" sz="700" dirty="0">
                <a:latin typeface="Heebo" panose="020B0604020202020204" charset="-79"/>
                <a:cs typeface="Heebo" panose="020B0604020202020204" charset="-79"/>
              </a:rPr>
              <a:t>.</a:t>
            </a:r>
          </a:p>
        </p:txBody>
      </p:sp>
      <p:pic>
        <p:nvPicPr>
          <p:cNvPr id="34" name="Image 3" descr="preencoded.png"/>
          <p:cNvPicPr>
            <a:picLocks noChangeAspect="1"/>
          </p:cNvPicPr>
          <p:nvPr/>
        </p:nvPicPr>
        <p:blipFill>
          <a:blip r:embed="rId4">
            <a:extLst>
              <a:ext uri="{96DAC541-7B7A-43D3-8B79-37D633B846F1}">
                <asvg:svgBlip xmlns="" xmlns:asvg="http://schemas.microsoft.com/office/drawing/2016/SVG/main" r:embed="rId7"/>
              </a:ext>
            </a:extLst>
          </a:blip>
          <a:stretch>
            <a:fillRect/>
          </a:stretch>
        </p:blipFill>
        <p:spPr>
          <a:xfrm>
            <a:off x="6059643" y="4014757"/>
            <a:ext cx="2874723" cy="811815"/>
          </a:xfrm>
          <a:prstGeom prst="rect">
            <a:avLst/>
          </a:prstGeom>
        </p:spPr>
      </p:pic>
      <p:sp>
        <p:nvSpPr>
          <p:cNvPr id="35" name="Text 8"/>
          <p:cNvSpPr/>
          <p:nvPr/>
        </p:nvSpPr>
        <p:spPr>
          <a:xfrm>
            <a:off x="6130371" y="4037579"/>
            <a:ext cx="2724250" cy="143880"/>
          </a:xfrm>
          <a:prstGeom prst="rect">
            <a:avLst/>
          </a:prstGeom>
          <a:noFill/>
          <a:ln/>
        </p:spPr>
        <p:txBody>
          <a:bodyPr wrap="none" lIns="0" tIns="0" rIns="0" bIns="0" rtlCol="0" anchor="t"/>
          <a:lstStyle/>
          <a:p>
            <a:pPr marL="0" indent="0" algn="l">
              <a:lnSpc>
                <a:spcPct val="104000"/>
              </a:lnSpc>
              <a:buNone/>
            </a:pPr>
            <a:r>
              <a:rPr lang="en-US" sz="750" dirty="0" smtClean="0">
                <a:solidFill>
                  <a:srgbClr val="2150FE"/>
                </a:solidFill>
                <a:latin typeface="Crimson Pro SemiBold" pitchFamily="34" charset="0"/>
                <a:ea typeface="Crimson Pro SemiBold" pitchFamily="34" charset="-122"/>
                <a:cs typeface="Crimson Pro SemiBold" pitchFamily="34" charset="-120"/>
              </a:rPr>
              <a:t>Plant 1 Tons (+2.72)</a:t>
            </a:r>
            <a:r>
              <a:rPr lang="en-US" sz="750" dirty="0" smtClean="0">
                <a:solidFill>
                  <a:srgbClr val="4C4C4D"/>
                </a:solidFill>
                <a:latin typeface="Crimson Pro SemiBold" pitchFamily="34" charset="0"/>
                <a:ea typeface="Crimson Pro SemiBold" pitchFamily="34" charset="-122"/>
                <a:cs typeface="Crimson Pro SemiBold" pitchFamily="34" charset="-120"/>
              </a:rPr>
              <a:t> </a:t>
            </a:r>
            <a:r>
              <a:rPr lang="en-US" sz="750" dirty="0">
                <a:solidFill>
                  <a:srgbClr val="4C4C4D"/>
                </a:solidFill>
                <a:latin typeface="Crimson Pro SemiBold" pitchFamily="34" charset="0"/>
                <a:ea typeface="Crimson Pro SemiBold" pitchFamily="34" charset="-122"/>
                <a:cs typeface="Crimson Pro SemiBold" pitchFamily="34" charset="-120"/>
              </a:rPr>
              <a:t>— P</a:t>
            </a:r>
            <a:r>
              <a:rPr lang="en-US" sz="750" dirty="0" smtClean="0">
                <a:solidFill>
                  <a:srgbClr val="4C4C4D"/>
                </a:solidFill>
                <a:latin typeface="Crimson Pro SemiBold" pitchFamily="34" charset="0"/>
                <a:ea typeface="Crimson Pro SemiBold" pitchFamily="34" charset="-122"/>
                <a:cs typeface="Crimson Pro SemiBold" pitchFamily="34" charset="-120"/>
              </a:rPr>
              <a:t>ositive Conditional Effect</a:t>
            </a:r>
            <a:endParaRPr lang="en-US" sz="750" dirty="0"/>
          </a:p>
        </p:txBody>
      </p:sp>
      <p:sp>
        <p:nvSpPr>
          <p:cNvPr id="36" name="Text 13"/>
          <p:cNvSpPr/>
          <p:nvPr/>
        </p:nvSpPr>
        <p:spPr>
          <a:xfrm>
            <a:off x="6122937" y="4204281"/>
            <a:ext cx="2724250" cy="239476"/>
          </a:xfrm>
          <a:prstGeom prst="rect">
            <a:avLst/>
          </a:prstGeom>
          <a:noFill/>
          <a:ln/>
        </p:spPr>
        <p:txBody>
          <a:bodyPr wrap="square" lIns="0" tIns="0" rIns="0" bIns="0" rtlCol="0" anchor="t">
            <a:noAutofit/>
          </a:bodyPr>
          <a:lstStyle/>
          <a:p>
            <a:pPr>
              <a:lnSpc>
                <a:spcPct val="108000"/>
              </a:lnSpc>
            </a:pPr>
            <a:r>
              <a:rPr lang="en-US" sz="700" dirty="0">
                <a:solidFill>
                  <a:srgbClr val="4C4C4D"/>
                </a:solidFill>
                <a:latin typeface="Heebo" pitchFamily="34" charset="0"/>
                <a:ea typeface="Heebo" pitchFamily="34" charset="-122"/>
                <a:cs typeface="Heebo" pitchFamily="34" charset="-120"/>
              </a:rPr>
              <a:t>Higher Plant 1 production is associated with improved customer DP when the other operating conditions are held constant. This suggests that Plant 1 dispatch may support DP stability under certain system conditions, but the relationship should be validated operationally before changing plant loading strategy</a:t>
            </a:r>
            <a:r>
              <a:rPr lang="en-US" sz="800" dirty="0"/>
              <a:t>.</a:t>
            </a:r>
            <a:endParaRPr lang="en-US" sz="700" dirty="0">
              <a:latin typeface="Heebo" panose="020B0604020202020204" charset="-79"/>
              <a:cs typeface="Heebo" panose="020B0604020202020204" charset="-79"/>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350416"/>
            <a:ext cx="921246" cy="144214"/>
          </a:xfrm>
          <a:prstGeom prst="roundRect">
            <a:avLst>
              <a:gd name="adj" fmla="val 7903"/>
            </a:avLst>
          </a:prstGeom>
          <a:solidFill>
            <a:srgbClr val="CCD7FF"/>
          </a:solidFill>
          <a:ln/>
        </p:spPr>
      </p:sp>
      <p:sp>
        <p:nvSpPr>
          <p:cNvPr id="3" name="Text 1"/>
          <p:cNvSpPr/>
          <p:nvPr/>
        </p:nvSpPr>
        <p:spPr>
          <a:xfrm>
            <a:off x="553045" y="378842"/>
            <a:ext cx="1264593" cy="87362"/>
          </a:xfrm>
          <a:prstGeom prst="rect">
            <a:avLst/>
          </a:prstGeom>
          <a:noFill/>
          <a:ln/>
        </p:spPr>
        <p:txBody>
          <a:bodyPr wrap="none" lIns="0" tIns="0" rIns="0" bIns="0" rtlCol="0" anchor="t"/>
          <a:lstStyle/>
          <a:p>
            <a:pPr marL="0" indent="0" algn="l">
              <a:lnSpc>
                <a:spcPct val="96000"/>
              </a:lnSpc>
              <a:buNone/>
            </a:pPr>
            <a:r>
              <a:rPr lang="en-US" sz="550" dirty="0">
                <a:solidFill>
                  <a:srgbClr val="4C4C4D"/>
                </a:solidFill>
                <a:latin typeface="Heebo" pitchFamily="34" charset="0"/>
                <a:ea typeface="Heebo" pitchFamily="34" charset="-122"/>
                <a:cs typeface="Heebo" pitchFamily="34" charset="-120"/>
              </a:rPr>
              <a:t>INTERACTION EFFECTS</a:t>
            </a:r>
            <a:endParaRPr lang="en-US" sz="550" dirty="0"/>
          </a:p>
        </p:txBody>
      </p:sp>
      <p:sp>
        <p:nvSpPr>
          <p:cNvPr id="4" name="Text 2"/>
          <p:cNvSpPr/>
          <p:nvPr/>
        </p:nvSpPr>
        <p:spPr>
          <a:xfrm>
            <a:off x="496119" y="523652"/>
            <a:ext cx="6216915" cy="296763"/>
          </a:xfrm>
          <a:prstGeom prst="rect">
            <a:avLst/>
          </a:prstGeom>
          <a:noFill/>
          <a:ln/>
        </p:spPr>
        <p:txBody>
          <a:bodyPr wrap="none" lIns="0" tIns="0" rIns="0" bIns="0" rtlCol="0" anchor="t"/>
          <a:lstStyle/>
          <a:p>
            <a:pPr marL="0" indent="0" algn="l">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Weather Changes How System Flow Affects Customer DP</a:t>
            </a:r>
            <a:endParaRPr lang="en-US" sz="1850" dirty="0"/>
          </a:p>
        </p:txBody>
      </p:sp>
      <p:sp>
        <p:nvSpPr>
          <p:cNvPr id="5" name="Text 3"/>
          <p:cNvSpPr/>
          <p:nvPr/>
        </p:nvSpPr>
        <p:spPr>
          <a:xfrm>
            <a:off x="496119" y="853827"/>
            <a:ext cx="3960019" cy="148307"/>
          </a:xfrm>
          <a:prstGeom prst="rect">
            <a:avLst/>
          </a:prstGeom>
          <a:noFill/>
          <a:ln/>
        </p:spPr>
        <p:txBody>
          <a:bodyPr wrap="none" lIns="0" tIns="0" rIns="0" bIns="0" rtlCol="0" anchor="t"/>
          <a:lstStyle/>
          <a:p>
            <a:pPr marL="0" indent="0" algn="l">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Flow–Humidex Interaction: DP Response by Weather Regime</a:t>
            </a:r>
            <a:endParaRPr lang="en-US" sz="900" dirty="0"/>
          </a:p>
        </p:txBody>
      </p:sp>
      <p:pic>
        <p:nvPicPr>
          <p:cNvPr id="6" name="Image 0" descr="preencoded.png"/>
          <p:cNvPicPr>
            <a:picLocks noChangeAspect="1"/>
          </p:cNvPicPr>
          <p:nvPr/>
        </p:nvPicPr>
        <p:blipFill>
          <a:blip r:embed="rId3"/>
          <a:stretch>
            <a:fillRect/>
          </a:stretch>
        </p:blipFill>
        <p:spPr>
          <a:xfrm>
            <a:off x="163551" y="1119893"/>
            <a:ext cx="4292587" cy="2730513"/>
          </a:xfrm>
          <a:prstGeom prst="rect">
            <a:avLst/>
          </a:prstGeom>
        </p:spPr>
      </p:pic>
      <p:sp>
        <p:nvSpPr>
          <p:cNvPr id="7" name="Text 4"/>
          <p:cNvSpPr/>
          <p:nvPr/>
        </p:nvSpPr>
        <p:spPr>
          <a:xfrm>
            <a:off x="496044" y="3929777"/>
            <a:ext cx="3960019" cy="497198"/>
          </a:xfrm>
          <a:prstGeom prst="rect">
            <a:avLst/>
          </a:prstGeom>
          <a:noFill/>
          <a:ln/>
        </p:spPr>
        <p:txBody>
          <a:bodyPr wrap="square" lIns="0" tIns="0" rIns="0" bIns="0" rtlCol="0" anchor="t">
            <a:noAutofit/>
          </a:bodyPr>
          <a:lstStyle/>
          <a:p>
            <a:pPr>
              <a:lnSpc>
                <a:spcPct val="118000"/>
              </a:lnSpc>
            </a:pPr>
            <a:r>
              <a:rPr lang="en-US" sz="650" dirty="0">
                <a:solidFill>
                  <a:srgbClr val="4C4C4D"/>
                </a:solidFill>
                <a:latin typeface="Heebo" pitchFamily="34" charset="0"/>
                <a:ea typeface="Heebo" pitchFamily="34" charset="-122"/>
                <a:cs typeface="Heebo" pitchFamily="34" charset="-120"/>
              </a:rPr>
              <a:t>Under </a:t>
            </a:r>
            <a:r>
              <a:rPr lang="en-US" sz="650" b="1" dirty="0">
                <a:solidFill>
                  <a:srgbClr val="4C4C4D"/>
                </a:solidFill>
                <a:latin typeface="Heebo Bold" pitchFamily="34" charset="0"/>
                <a:ea typeface="Heebo Bold" pitchFamily="34" charset="-122"/>
                <a:cs typeface="Heebo Bold" pitchFamily="34" charset="-120"/>
              </a:rPr>
              <a:t>low Humidex (The bottom 33</a:t>
            </a:r>
            <a:r>
              <a:rPr lang="en-US" sz="650" b="1" dirty="0" smtClean="0">
                <a:solidFill>
                  <a:srgbClr val="4C4C4D"/>
                </a:solidFill>
                <a:latin typeface="Heebo Bold" pitchFamily="34" charset="0"/>
                <a:ea typeface="Heebo Bold" pitchFamily="34" charset="-122"/>
                <a:cs typeface="Heebo Bold" pitchFamily="34" charset="-120"/>
              </a:rPr>
              <a:t>%)</a:t>
            </a:r>
            <a:r>
              <a:rPr lang="en-US" sz="650" dirty="0" smtClean="0">
                <a:solidFill>
                  <a:srgbClr val="4C4C4D"/>
                </a:solidFill>
                <a:latin typeface="Heebo" pitchFamily="34" charset="0"/>
                <a:ea typeface="Heebo" pitchFamily="34" charset="-122"/>
                <a:cs typeface="Heebo" pitchFamily="34" charset="-120"/>
              </a:rPr>
              <a:t>: </a:t>
            </a:r>
            <a:r>
              <a:rPr lang="en-US" sz="650" dirty="0">
                <a:solidFill>
                  <a:srgbClr val="4C4C4D"/>
                </a:solidFill>
                <a:latin typeface="Heebo" pitchFamily="34" charset="0"/>
                <a:ea typeface="Heebo" pitchFamily="34" charset="-122"/>
                <a:cs typeface="Heebo" pitchFamily="34" charset="-120"/>
              </a:rPr>
              <a:t>high flow still delivers DP well above 12 psi — system performs reliably. Under </a:t>
            </a:r>
            <a:r>
              <a:rPr lang="en-US" sz="650" b="1" dirty="0">
                <a:solidFill>
                  <a:srgbClr val="4C4C4D"/>
                </a:solidFill>
                <a:latin typeface="Heebo Bold" pitchFamily="34" charset="0"/>
                <a:ea typeface="Heebo Bold" pitchFamily="34" charset="-122"/>
                <a:cs typeface="Heebo Bold" pitchFamily="34" charset="-120"/>
              </a:rPr>
              <a:t>medium Humidex (middle 33%)</a:t>
            </a:r>
            <a:r>
              <a:rPr lang="en-US" sz="650" dirty="0" smtClean="0">
                <a:solidFill>
                  <a:srgbClr val="4C4C4D"/>
                </a:solidFill>
                <a:latin typeface="Heebo" pitchFamily="34" charset="0"/>
                <a:ea typeface="Heebo" pitchFamily="34" charset="-122"/>
                <a:cs typeface="Heebo" pitchFamily="34" charset="-120"/>
              </a:rPr>
              <a:t>: </a:t>
            </a:r>
            <a:r>
              <a:rPr lang="en-US" sz="650" dirty="0">
                <a:solidFill>
                  <a:srgbClr val="4C4C4D"/>
                </a:solidFill>
                <a:latin typeface="Heebo" pitchFamily="34" charset="0"/>
                <a:ea typeface="Heebo" pitchFamily="34" charset="-122"/>
                <a:cs typeface="Heebo" pitchFamily="34" charset="-120"/>
              </a:rPr>
              <a:t>DP begins compressing toward threshold at high flow volumes. Under </a:t>
            </a:r>
            <a:r>
              <a:rPr lang="en-US" sz="650" b="1" dirty="0">
                <a:solidFill>
                  <a:srgbClr val="4C4C4D"/>
                </a:solidFill>
                <a:latin typeface="Heebo Bold" pitchFamily="34" charset="0"/>
                <a:ea typeface="Heebo Bold" pitchFamily="34" charset="-122"/>
                <a:cs typeface="Heebo Bold" pitchFamily="34" charset="-120"/>
              </a:rPr>
              <a:t>high Humidex (top 33%)</a:t>
            </a:r>
            <a:r>
              <a:rPr lang="en-US" sz="650" dirty="0" smtClean="0">
                <a:solidFill>
                  <a:srgbClr val="4C4C4D"/>
                </a:solidFill>
                <a:latin typeface="Heebo" pitchFamily="34" charset="0"/>
                <a:ea typeface="Heebo" pitchFamily="34" charset="-122"/>
                <a:cs typeface="Heebo" pitchFamily="34" charset="-120"/>
              </a:rPr>
              <a:t>: </a:t>
            </a:r>
            <a:r>
              <a:rPr lang="en-US" sz="650" dirty="0">
                <a:solidFill>
                  <a:srgbClr val="4C4C4D"/>
                </a:solidFill>
                <a:latin typeface="Heebo" pitchFamily="34" charset="0"/>
                <a:ea typeface="Heebo" pitchFamily="34" charset="-122"/>
                <a:cs typeface="Heebo" pitchFamily="34" charset="-120"/>
              </a:rPr>
              <a:t>even moderate flow levels push DP below 12 psi — the system is in a fundamentally different operating regime.</a:t>
            </a:r>
            <a:endParaRPr lang="en-US" sz="650" dirty="0"/>
          </a:p>
        </p:txBody>
      </p:sp>
      <p:sp>
        <p:nvSpPr>
          <p:cNvPr id="8" name="Text 5"/>
          <p:cNvSpPr/>
          <p:nvPr/>
        </p:nvSpPr>
        <p:spPr>
          <a:xfrm>
            <a:off x="4687788" y="927980"/>
            <a:ext cx="3960019" cy="148307"/>
          </a:xfrm>
          <a:prstGeom prst="rect">
            <a:avLst/>
          </a:prstGeom>
          <a:noFill/>
          <a:ln/>
        </p:spPr>
        <p:txBody>
          <a:bodyPr wrap="none" lIns="0" tIns="0" rIns="0" bIns="0" rtlCol="0" anchor="t"/>
          <a:lstStyle/>
          <a:p>
            <a:pPr marL="0" indent="0" algn="l">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Nonlinear Humidex Effect on Mean Customer DP</a:t>
            </a:r>
            <a:endParaRPr lang="en-US" sz="900" dirty="0"/>
          </a:p>
        </p:txBody>
      </p:sp>
      <p:pic>
        <p:nvPicPr>
          <p:cNvPr id="9" name="Image 1" descr="preencoded.png"/>
          <p:cNvPicPr>
            <a:picLocks noChangeAspect="1"/>
          </p:cNvPicPr>
          <p:nvPr/>
        </p:nvPicPr>
        <p:blipFill>
          <a:blip r:embed="rId4"/>
          <a:stretch>
            <a:fillRect/>
          </a:stretch>
        </p:blipFill>
        <p:spPr>
          <a:xfrm>
            <a:off x="4692625" y="1119893"/>
            <a:ext cx="4295258" cy="2788765"/>
          </a:xfrm>
          <a:prstGeom prst="rect">
            <a:avLst/>
          </a:prstGeom>
        </p:spPr>
      </p:pic>
      <p:sp>
        <p:nvSpPr>
          <p:cNvPr id="10" name="Text 6"/>
          <p:cNvSpPr/>
          <p:nvPr/>
        </p:nvSpPr>
        <p:spPr>
          <a:xfrm>
            <a:off x="4970329" y="3971300"/>
            <a:ext cx="3960019" cy="415037"/>
          </a:xfrm>
          <a:prstGeom prst="rect">
            <a:avLst/>
          </a:prstGeom>
          <a:noFill/>
          <a:ln/>
        </p:spPr>
        <p:txBody>
          <a:bodyPr wrap="square" lIns="0" tIns="0" rIns="0" bIns="0" rtlCol="0" anchor="t">
            <a:noAutofit/>
          </a:bodyPr>
          <a:lstStyle/>
          <a:p>
            <a:pPr marL="0" indent="0" algn="l">
              <a:lnSpc>
                <a:spcPct val="118000"/>
              </a:lnSpc>
              <a:buNone/>
            </a:pPr>
            <a:r>
              <a:rPr lang="en-US" sz="650" dirty="0">
                <a:solidFill>
                  <a:srgbClr val="4C4C4D"/>
                </a:solidFill>
                <a:latin typeface="Heebo" pitchFamily="34" charset="0"/>
                <a:ea typeface="Heebo" pitchFamily="34" charset="-122"/>
                <a:cs typeface="Heebo" pitchFamily="34" charset="-120"/>
              </a:rPr>
              <a:t>Mean customer DP drops sharply as Humidex rises from 21°C to ~32°C, then flattens near the 12 psi threshold. The relationship is nonlinear — a single Humidex coefficient understates risk at the high end of the weather range.</a:t>
            </a:r>
            <a:endParaRPr lang="en-US" sz="650" dirty="0"/>
          </a:p>
        </p:txBody>
      </p:sp>
      <p:sp>
        <p:nvSpPr>
          <p:cNvPr id="13" name="Text 9"/>
          <p:cNvSpPr/>
          <p:nvPr/>
        </p:nvSpPr>
        <p:spPr>
          <a:xfrm>
            <a:off x="430094" y="4491976"/>
            <a:ext cx="2527325" cy="148307"/>
          </a:xfrm>
          <a:prstGeom prst="rect">
            <a:avLst/>
          </a:prstGeom>
          <a:noFill/>
          <a:ln/>
        </p:spPr>
        <p:txBody>
          <a:bodyPr wrap="none" lIns="0" tIns="0" rIns="0" bIns="0" rtlCol="0" anchor="t"/>
          <a:lstStyle/>
          <a:p>
            <a:pPr marL="0" indent="0" algn="l">
              <a:lnSpc>
                <a:spcPct val="104000"/>
              </a:lnSpc>
              <a:buNone/>
            </a:pPr>
            <a:r>
              <a:rPr lang="en-US" sz="900" dirty="0" smtClean="0">
                <a:solidFill>
                  <a:srgbClr val="4C4C4D"/>
                </a:solidFill>
                <a:latin typeface="Crimson Pro SemiBold" pitchFamily="34" charset="0"/>
                <a:ea typeface="Crimson Pro SemiBold" pitchFamily="34" charset="-122"/>
                <a:cs typeface="Crimson Pro SemiBold" pitchFamily="34" charset="-120"/>
              </a:rPr>
              <a:t>Interaction </a:t>
            </a:r>
            <a:r>
              <a:rPr lang="en-US" sz="900" dirty="0">
                <a:solidFill>
                  <a:srgbClr val="4C4C4D"/>
                </a:solidFill>
                <a:latin typeface="Crimson Pro SemiBold" pitchFamily="34" charset="0"/>
                <a:ea typeface="Crimson Pro SemiBold" pitchFamily="34" charset="-122"/>
                <a:cs typeface="Crimson Pro SemiBold" pitchFamily="34" charset="-120"/>
              </a:rPr>
              <a:t>Model R²</a:t>
            </a:r>
            <a:endParaRPr lang="en-US" sz="900" dirty="0"/>
          </a:p>
        </p:txBody>
      </p:sp>
      <p:sp>
        <p:nvSpPr>
          <p:cNvPr id="14" name="Text 10"/>
          <p:cNvSpPr/>
          <p:nvPr/>
        </p:nvSpPr>
        <p:spPr>
          <a:xfrm>
            <a:off x="553975" y="4673203"/>
            <a:ext cx="2527325" cy="395342"/>
          </a:xfrm>
          <a:prstGeom prst="rect">
            <a:avLst/>
          </a:prstGeom>
          <a:noFill/>
          <a:ln/>
        </p:spPr>
        <p:txBody>
          <a:bodyPr wrap="square" lIns="0" tIns="0" rIns="0" bIns="0" rtlCol="0" anchor="t">
            <a:normAutofit/>
          </a:bodyPr>
          <a:lstStyle/>
          <a:p>
            <a:pPr>
              <a:lnSpc>
                <a:spcPct val="118000"/>
              </a:lnSpc>
            </a:pPr>
            <a:r>
              <a:rPr lang="en-US" sz="700" b="1" dirty="0" smtClean="0">
                <a:solidFill>
                  <a:srgbClr val="4C4C4D"/>
                </a:solidFill>
                <a:latin typeface="Heebo" panose="020B0604020202020204" charset="-79"/>
                <a:ea typeface="Heebo Bold" pitchFamily="34" charset="-122"/>
                <a:cs typeface="Heebo" panose="020B0604020202020204" charset="-79"/>
              </a:rPr>
              <a:t>0.786</a:t>
            </a:r>
            <a:r>
              <a:rPr lang="en-US" sz="700" dirty="0" smtClean="0">
                <a:solidFill>
                  <a:srgbClr val="4C4C4D"/>
                </a:solidFill>
                <a:latin typeface="Heebo" panose="020B0604020202020204" charset="-79"/>
                <a:ea typeface="Heebo" pitchFamily="34" charset="-122"/>
                <a:cs typeface="Heebo" panose="020B0604020202020204" charset="-79"/>
              </a:rPr>
              <a:t> — explains 78.6% of DP variance using individual predictors. </a:t>
            </a:r>
            <a:r>
              <a:rPr lang="en-US" sz="700" dirty="0" smtClean="0">
                <a:solidFill>
                  <a:srgbClr val="4C4C4D"/>
                </a:solidFill>
                <a:latin typeface="Heebo" panose="020B0604020202020204" charset="-79"/>
                <a:ea typeface="Crimson Pro SemiBold" pitchFamily="34" charset="-122"/>
                <a:cs typeface="Heebo" panose="020B0604020202020204" charset="-79"/>
              </a:rPr>
              <a:t>Adding interaction and nonlinear terms improved model’s explanatory power to 0.865</a:t>
            </a:r>
            <a:endParaRPr lang="en-US" sz="700" dirty="0">
              <a:latin typeface="Heebo" panose="020B0604020202020204" charset="-79"/>
              <a:cs typeface="Heebo" panose="020B0604020202020204" charset="-79"/>
            </a:endParaRPr>
          </a:p>
          <a:p>
            <a:pPr marL="0" indent="0" algn="l">
              <a:lnSpc>
                <a:spcPct val="118000"/>
              </a:lnSpc>
              <a:buNone/>
            </a:pPr>
            <a:endParaRPr lang="en-US" sz="700" dirty="0"/>
          </a:p>
        </p:txBody>
      </p:sp>
      <p:sp>
        <p:nvSpPr>
          <p:cNvPr id="16" name="Shape 12"/>
          <p:cNvSpPr/>
          <p:nvPr/>
        </p:nvSpPr>
        <p:spPr>
          <a:xfrm>
            <a:off x="2980246" y="4399468"/>
            <a:ext cx="9525" cy="650007"/>
          </a:xfrm>
          <a:prstGeom prst="roundRect">
            <a:avLst>
              <a:gd name="adj" fmla="val 149564"/>
            </a:avLst>
          </a:prstGeom>
          <a:solidFill>
            <a:srgbClr val="D8D4D4"/>
          </a:solidFill>
          <a:ln/>
        </p:spPr>
      </p:sp>
      <p:sp>
        <p:nvSpPr>
          <p:cNvPr id="17" name="Text 13"/>
          <p:cNvSpPr/>
          <p:nvPr/>
        </p:nvSpPr>
        <p:spPr>
          <a:xfrm>
            <a:off x="3039921" y="4448824"/>
            <a:ext cx="2527325" cy="148307"/>
          </a:xfrm>
          <a:prstGeom prst="rect">
            <a:avLst/>
          </a:prstGeom>
          <a:noFill/>
          <a:ln/>
        </p:spPr>
        <p:txBody>
          <a:bodyPr wrap="none" lIns="0" tIns="0" rIns="0" bIns="0" rtlCol="0" anchor="t"/>
          <a:lstStyle/>
          <a:p>
            <a:pPr marL="0" indent="0" algn="l">
              <a:lnSpc>
                <a:spcPct val="104000"/>
              </a:lnSpc>
              <a:buNone/>
            </a:pPr>
            <a:r>
              <a:rPr lang="en-US" sz="900" dirty="0" err="1" smtClean="0">
                <a:solidFill>
                  <a:srgbClr val="4C4C4D"/>
                </a:solidFill>
                <a:latin typeface="Crimson Pro SemiBold" pitchFamily="34" charset="0"/>
                <a:ea typeface="Crimson Pro SemiBold" pitchFamily="34" charset="-122"/>
                <a:cs typeface="Crimson Pro SemiBold" pitchFamily="34" charset="-120"/>
              </a:rPr>
              <a:t>Heteroskedasticity</a:t>
            </a:r>
            <a:r>
              <a:rPr lang="en-US" sz="900" dirty="0" smtClean="0">
                <a:solidFill>
                  <a:srgbClr val="4C4C4D"/>
                </a:solidFill>
                <a:latin typeface="Crimson Pro SemiBold" pitchFamily="34" charset="0"/>
                <a:ea typeface="Crimson Pro SemiBold" pitchFamily="34" charset="-122"/>
                <a:cs typeface="Crimson Pro SemiBold" pitchFamily="34" charset="-120"/>
              </a:rPr>
              <a:t> Autocorrelation Consistent</a:t>
            </a:r>
            <a:endParaRPr lang="en-US" sz="900" dirty="0"/>
          </a:p>
        </p:txBody>
      </p:sp>
      <p:sp>
        <p:nvSpPr>
          <p:cNvPr id="18" name="Text 14"/>
          <p:cNvSpPr/>
          <p:nvPr/>
        </p:nvSpPr>
        <p:spPr>
          <a:xfrm>
            <a:off x="3116632" y="4621164"/>
            <a:ext cx="2666955" cy="470297"/>
          </a:xfrm>
          <a:prstGeom prst="rect">
            <a:avLst/>
          </a:prstGeom>
          <a:noFill/>
          <a:ln/>
        </p:spPr>
        <p:txBody>
          <a:bodyPr wrap="square" lIns="0" tIns="0" rIns="0" bIns="0" rtlCol="0" anchor="t">
            <a:noAutofit/>
          </a:bodyPr>
          <a:lstStyle/>
          <a:p>
            <a:pPr>
              <a:lnSpc>
                <a:spcPct val="118000"/>
              </a:lnSpc>
            </a:pPr>
            <a:r>
              <a:rPr lang="en-US" sz="700" b="1" dirty="0" smtClean="0">
                <a:solidFill>
                  <a:srgbClr val="4C4C4D"/>
                </a:solidFill>
                <a:latin typeface="Heebo" panose="020B0604020202020204" charset="-79"/>
                <a:ea typeface="Heebo Bold" pitchFamily="34" charset="-122"/>
                <a:cs typeface="Heebo" panose="020B0604020202020204" charset="-79"/>
              </a:rPr>
              <a:t>Used HAC –</a:t>
            </a:r>
            <a:r>
              <a:rPr lang="en-US" sz="700" dirty="0" smtClean="0">
                <a:solidFill>
                  <a:srgbClr val="4C4C4D"/>
                </a:solidFill>
                <a:latin typeface="Heebo" panose="020B0604020202020204" charset="-79"/>
                <a:ea typeface="Heebo Bold" pitchFamily="34" charset="-122"/>
                <a:cs typeface="Heebo" panose="020B0604020202020204" charset="-79"/>
              </a:rPr>
              <a:t> to improve statistical confidence in factors affecting DP by correcting the standard errors</a:t>
            </a:r>
            <a:endParaRPr lang="en-US" sz="700" dirty="0">
              <a:latin typeface="Heebo" panose="020B0604020202020204" charset="-79"/>
              <a:cs typeface="Heebo" panose="020B0604020202020204" charset="-79"/>
            </a:endParaRPr>
          </a:p>
        </p:txBody>
      </p:sp>
      <p:sp>
        <p:nvSpPr>
          <p:cNvPr id="20" name="Shape 16"/>
          <p:cNvSpPr/>
          <p:nvPr/>
        </p:nvSpPr>
        <p:spPr>
          <a:xfrm>
            <a:off x="5841370" y="4380965"/>
            <a:ext cx="9525" cy="650007"/>
          </a:xfrm>
          <a:prstGeom prst="roundRect">
            <a:avLst>
              <a:gd name="adj" fmla="val 149564"/>
            </a:avLst>
          </a:prstGeom>
          <a:solidFill>
            <a:srgbClr val="D8D4D4"/>
          </a:solidFill>
          <a:ln/>
        </p:spPr>
      </p:sp>
      <p:sp>
        <p:nvSpPr>
          <p:cNvPr id="21" name="Text 17"/>
          <p:cNvSpPr/>
          <p:nvPr/>
        </p:nvSpPr>
        <p:spPr>
          <a:xfrm>
            <a:off x="5933397" y="4514277"/>
            <a:ext cx="2527325" cy="148307"/>
          </a:xfrm>
          <a:prstGeom prst="rect">
            <a:avLst/>
          </a:prstGeom>
          <a:noFill/>
          <a:ln/>
        </p:spPr>
        <p:txBody>
          <a:bodyPr wrap="none" lIns="0" tIns="0" rIns="0" bIns="0" rtlCol="0" anchor="t"/>
          <a:lstStyle/>
          <a:p>
            <a:pPr marL="0" indent="0" algn="l">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Operational Takeaway</a:t>
            </a:r>
            <a:endParaRPr lang="en-US" sz="900" dirty="0"/>
          </a:p>
        </p:txBody>
      </p:sp>
      <p:sp>
        <p:nvSpPr>
          <p:cNvPr id="22" name="Text 18"/>
          <p:cNvSpPr/>
          <p:nvPr/>
        </p:nvSpPr>
        <p:spPr>
          <a:xfrm>
            <a:off x="6035056" y="4673203"/>
            <a:ext cx="2527325" cy="268188"/>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4C4C4D"/>
                </a:solidFill>
                <a:latin typeface="Heebo" pitchFamily="34" charset="0"/>
                <a:ea typeface="Heebo" pitchFamily="34" charset="-122"/>
                <a:cs typeface="Heebo" pitchFamily="34" charset="-120"/>
              </a:rPr>
              <a:t>Monitor DP using </a:t>
            </a:r>
            <a:r>
              <a:rPr lang="en-US" sz="700" b="1" dirty="0">
                <a:solidFill>
                  <a:srgbClr val="4C4C4D"/>
                </a:solidFill>
                <a:latin typeface="Heebo Bold" pitchFamily="34" charset="0"/>
                <a:ea typeface="Heebo Bold" pitchFamily="34" charset="-122"/>
                <a:cs typeface="Heebo Bold" pitchFamily="34" charset="-120"/>
              </a:rPr>
              <a:t>combined weather and </a:t>
            </a:r>
            <a:r>
              <a:rPr lang="en-US" sz="700" b="1" dirty="0" smtClean="0">
                <a:solidFill>
                  <a:srgbClr val="4C4C4D"/>
                </a:solidFill>
                <a:latin typeface="Heebo Bold" pitchFamily="34" charset="0"/>
                <a:ea typeface="Heebo Bold" pitchFamily="34" charset="-122"/>
                <a:cs typeface="Heebo Bold" pitchFamily="34" charset="-120"/>
              </a:rPr>
              <a:t>other operating variables</a:t>
            </a:r>
            <a:r>
              <a:rPr lang="en-US" sz="700" dirty="0" smtClean="0">
                <a:solidFill>
                  <a:srgbClr val="4C4C4D"/>
                </a:solidFill>
                <a:latin typeface="Heebo" pitchFamily="34" charset="0"/>
                <a:ea typeface="Heebo" pitchFamily="34" charset="-122"/>
                <a:cs typeface="Heebo" pitchFamily="34" charset="-120"/>
              </a:rPr>
              <a:t> </a:t>
            </a:r>
            <a:r>
              <a:rPr lang="en-US" sz="700" dirty="0">
                <a:solidFill>
                  <a:srgbClr val="4C4C4D"/>
                </a:solidFill>
                <a:latin typeface="Heebo" pitchFamily="34" charset="0"/>
                <a:ea typeface="Heebo" pitchFamily="34" charset="-122"/>
                <a:cs typeface="Heebo" pitchFamily="34" charset="-120"/>
              </a:rPr>
              <a:t>— not individual variables in isolation</a:t>
            </a:r>
            <a:endParaRPr lang="en-US" sz="7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358304"/>
            <a:ext cx="1075294" cy="147191"/>
          </a:xfrm>
          <a:prstGeom prst="roundRect">
            <a:avLst>
              <a:gd name="adj" fmla="val 7901"/>
            </a:avLst>
          </a:prstGeom>
          <a:solidFill>
            <a:srgbClr val="CCD7FF"/>
          </a:solidFill>
          <a:ln/>
        </p:spPr>
      </p:sp>
      <p:sp>
        <p:nvSpPr>
          <p:cNvPr id="3" name="Text 1"/>
          <p:cNvSpPr/>
          <p:nvPr/>
        </p:nvSpPr>
        <p:spPr>
          <a:xfrm>
            <a:off x="554236" y="387325"/>
            <a:ext cx="1206103" cy="180908"/>
          </a:xfrm>
          <a:prstGeom prst="rect">
            <a:avLst/>
          </a:prstGeom>
          <a:noFill/>
          <a:ln/>
        </p:spPr>
        <p:txBody>
          <a:bodyPr wrap="none" lIns="0" tIns="0" rIns="0" bIns="0" rtlCol="0" anchor="t"/>
          <a:lstStyle/>
          <a:p>
            <a:pPr marL="0" indent="0" algn="l">
              <a:lnSpc>
                <a:spcPct val="96000"/>
              </a:lnSpc>
              <a:buNone/>
            </a:pPr>
            <a:r>
              <a:rPr lang="en-US" sz="800" b="1" dirty="0">
                <a:solidFill>
                  <a:srgbClr val="4C4C4D"/>
                </a:solidFill>
                <a:latin typeface="Heebo" pitchFamily="34" charset="0"/>
                <a:ea typeface="Heebo" pitchFamily="34" charset="-122"/>
                <a:cs typeface="Heebo" pitchFamily="34" charset="-120"/>
              </a:rPr>
              <a:t>RECOMMENDATIONS</a:t>
            </a:r>
            <a:endParaRPr lang="en-US" sz="600" b="1" dirty="0"/>
          </a:p>
        </p:txBody>
      </p:sp>
      <p:sp>
        <p:nvSpPr>
          <p:cNvPr id="4" name="Text 2"/>
          <p:cNvSpPr/>
          <p:nvPr/>
        </p:nvSpPr>
        <p:spPr>
          <a:xfrm>
            <a:off x="496119" y="535707"/>
            <a:ext cx="8151763" cy="302865"/>
          </a:xfrm>
          <a:prstGeom prst="rect">
            <a:avLst/>
          </a:prstGeom>
          <a:noFill/>
          <a:ln/>
        </p:spPr>
        <p:txBody>
          <a:bodyPr wrap="none" lIns="0" tIns="0" rIns="0" bIns="0" rtlCol="0" anchor="t"/>
          <a:lstStyle/>
          <a:p>
            <a:pPr marL="0" indent="0" algn="l">
              <a:lnSpc>
                <a:spcPct val="104000"/>
              </a:lnSpc>
              <a:buNone/>
            </a:pPr>
            <a:r>
              <a:rPr lang="en-US" sz="1900" dirty="0">
                <a:solidFill>
                  <a:srgbClr val="152D47"/>
                </a:solidFill>
                <a:latin typeface="Crimson Pro SemiBold" pitchFamily="34" charset="0"/>
                <a:ea typeface="Crimson Pro SemiBold" pitchFamily="34" charset="-122"/>
                <a:cs typeface="Crimson Pro SemiBold" pitchFamily="34" charset="-120"/>
              </a:rPr>
              <a:t>Move From Reactive to Proactive Risk Management</a:t>
            </a:r>
            <a:endParaRPr lang="en-US" sz="1900" dirty="0"/>
          </a:p>
        </p:txBody>
      </p:sp>
      <p:sp>
        <p:nvSpPr>
          <p:cNvPr id="5" name="Shape 3"/>
          <p:cNvSpPr/>
          <p:nvPr/>
        </p:nvSpPr>
        <p:spPr>
          <a:xfrm>
            <a:off x="426393" y="952128"/>
            <a:ext cx="4097164" cy="1513061"/>
          </a:xfrm>
          <a:prstGeom prst="roundRect">
            <a:avLst>
              <a:gd name="adj" fmla="val 961"/>
            </a:avLst>
          </a:prstGeom>
          <a:solidFill>
            <a:srgbClr val="2150FE"/>
          </a:solidFill>
          <a:ln/>
        </p:spPr>
      </p:sp>
      <p:sp>
        <p:nvSpPr>
          <p:cNvPr id="6" name="Text 4"/>
          <p:cNvSpPr/>
          <p:nvPr/>
        </p:nvSpPr>
        <p:spPr>
          <a:xfrm>
            <a:off x="523280" y="1027807"/>
            <a:ext cx="3903390" cy="151433"/>
          </a:xfrm>
          <a:prstGeom prst="rect">
            <a:avLst/>
          </a:prstGeom>
          <a:noFill/>
          <a:ln/>
        </p:spPr>
        <p:txBody>
          <a:bodyPr wrap="none" lIns="0" tIns="0" rIns="0" bIns="0" rtlCol="0" anchor="t"/>
          <a:lstStyle/>
          <a:p>
            <a:pPr marL="0" indent="0" algn="l">
              <a:lnSpc>
                <a:spcPct val="104000"/>
              </a:lnSpc>
              <a:buNone/>
            </a:pPr>
            <a:r>
              <a:rPr lang="en-US" sz="950" dirty="0" smtClean="0">
                <a:solidFill>
                  <a:srgbClr val="FFFFFF"/>
                </a:solidFill>
                <a:latin typeface="Crimson Pro SemiBold" pitchFamily="34" charset="0"/>
                <a:ea typeface="Crimson Pro SemiBold" pitchFamily="34" charset="-122"/>
                <a:cs typeface="Crimson Pro SemiBold" pitchFamily="34" charset="-120"/>
              </a:rPr>
              <a:t>Short Term Actions</a:t>
            </a:r>
            <a:endParaRPr lang="en-US" sz="950" dirty="0"/>
          </a:p>
        </p:txBody>
      </p:sp>
      <p:sp>
        <p:nvSpPr>
          <p:cNvPr id="7" name="Text 5"/>
          <p:cNvSpPr/>
          <p:nvPr/>
        </p:nvSpPr>
        <p:spPr>
          <a:xfrm>
            <a:off x="523280" y="1254919"/>
            <a:ext cx="3903390" cy="1183779"/>
          </a:xfrm>
          <a:prstGeom prst="rect">
            <a:avLst/>
          </a:prstGeom>
          <a:noFill/>
          <a:ln/>
        </p:spPr>
        <p:txBody>
          <a:bodyPr wrap="square" lIns="0" tIns="0" rIns="0" bIns="0" rtlCol="0" anchor="t">
            <a:normAutofit/>
          </a:bodyPr>
          <a:lstStyle/>
          <a:p>
            <a:pPr marL="152400" indent="-152400" algn="l">
              <a:lnSpc>
                <a:spcPct val="119000"/>
              </a:lnSpc>
              <a:buSzPct val="100000"/>
              <a:buChar char="•"/>
            </a:pPr>
            <a:r>
              <a:rPr lang="en-US" sz="750" dirty="0">
                <a:solidFill>
                  <a:srgbClr val="FFFFFF"/>
                </a:solidFill>
                <a:latin typeface="Heebo" pitchFamily="34" charset="0"/>
                <a:ea typeface="Heebo" pitchFamily="34" charset="-122"/>
                <a:cs typeface="Heebo" pitchFamily="34" charset="-120"/>
              </a:rPr>
              <a:t>Introduce a </a:t>
            </a:r>
            <a:r>
              <a:rPr lang="en-US" sz="750" b="1" dirty="0">
                <a:solidFill>
                  <a:srgbClr val="FFFFFF"/>
                </a:solidFill>
                <a:latin typeface="Heebo Bold" pitchFamily="34" charset="0"/>
                <a:ea typeface="Heebo Bold" pitchFamily="34" charset="-122"/>
                <a:cs typeface="Heebo Bold" pitchFamily="34" charset="-120"/>
              </a:rPr>
              <a:t>warning band above 12 psi</a:t>
            </a:r>
            <a:r>
              <a:rPr lang="en-US" sz="750" dirty="0">
                <a:solidFill>
                  <a:srgbClr val="FFFFFF"/>
                </a:solidFill>
                <a:latin typeface="Heebo" pitchFamily="34" charset="0"/>
                <a:ea typeface="Heebo" pitchFamily="34" charset="-122"/>
                <a:cs typeface="Heebo" pitchFamily="34" charset="-120"/>
              </a:rPr>
              <a:t> (e.g., 13–14 psi) to provide early alert before threshold breach — </a:t>
            </a:r>
            <a:r>
              <a:rPr lang="en-US" sz="750" dirty="0" smtClean="0">
                <a:solidFill>
                  <a:srgbClr val="FFFFFF"/>
                </a:solidFill>
                <a:latin typeface="Heebo" pitchFamily="34" charset="0"/>
                <a:ea typeface="Heebo" pitchFamily="34" charset="-122"/>
                <a:cs typeface="Heebo" pitchFamily="34" charset="-120"/>
              </a:rPr>
              <a:t>not after</a:t>
            </a:r>
            <a:endParaRPr lang="en-US" sz="750" dirty="0"/>
          </a:p>
          <a:p>
            <a:pPr marL="152400" indent="-152400" algn="l">
              <a:lnSpc>
                <a:spcPct val="119000"/>
              </a:lnSpc>
              <a:buSzPct val="100000"/>
              <a:buChar char="•"/>
            </a:pPr>
            <a:r>
              <a:rPr lang="en-US" sz="750" dirty="0">
                <a:solidFill>
                  <a:srgbClr val="FFFFFF"/>
                </a:solidFill>
                <a:latin typeface="Heebo" pitchFamily="34" charset="0"/>
                <a:ea typeface="Heebo" pitchFamily="34" charset="-122"/>
                <a:cs typeface="Heebo" pitchFamily="34" charset="-120"/>
              </a:rPr>
              <a:t>Continue </a:t>
            </a:r>
            <a:r>
              <a:rPr lang="en-US" sz="750" b="1" dirty="0">
                <a:solidFill>
                  <a:srgbClr val="FFFFFF"/>
                </a:solidFill>
                <a:latin typeface="Heebo Bold" pitchFamily="34" charset="0"/>
                <a:ea typeface="Heebo Bold" pitchFamily="34" charset="-122"/>
                <a:cs typeface="Heebo Bold" pitchFamily="34" charset="-120"/>
              </a:rPr>
              <a:t>five-minute monitoring during peak conditions</a:t>
            </a:r>
            <a:r>
              <a:rPr lang="en-US" sz="750" dirty="0">
                <a:solidFill>
                  <a:srgbClr val="FFFFFF"/>
                </a:solidFill>
                <a:latin typeface="Heebo" pitchFamily="34" charset="0"/>
                <a:ea typeface="Heebo" pitchFamily="34" charset="-122"/>
                <a:cs typeface="Heebo" pitchFamily="34" charset="-120"/>
              </a:rPr>
              <a:t>; hourly resolution is insufficient to capture the speed of DP deterioration during high-demand periods</a:t>
            </a:r>
            <a:endParaRPr lang="en-US" sz="750" dirty="0"/>
          </a:p>
          <a:p>
            <a:pPr marL="152400" indent="-152400" algn="l">
              <a:lnSpc>
                <a:spcPct val="119000"/>
              </a:lnSpc>
              <a:buSzPct val="100000"/>
              <a:buChar char="•"/>
            </a:pPr>
            <a:r>
              <a:rPr lang="en-US" sz="750" dirty="0">
                <a:solidFill>
                  <a:srgbClr val="FFFFFF"/>
                </a:solidFill>
                <a:latin typeface="Heebo" pitchFamily="34" charset="0"/>
                <a:ea typeface="Heebo" pitchFamily="34" charset="-122"/>
                <a:cs typeface="Heebo" pitchFamily="34" charset="-120"/>
              </a:rPr>
              <a:t>Develop </a:t>
            </a:r>
            <a:r>
              <a:rPr lang="en-US" sz="750" b="1" dirty="0">
                <a:solidFill>
                  <a:srgbClr val="FFFFFF"/>
                </a:solidFill>
                <a:latin typeface="Heebo Bold" pitchFamily="34" charset="0"/>
                <a:ea typeface="Heebo Bold" pitchFamily="34" charset="-122"/>
                <a:cs typeface="Heebo Bold" pitchFamily="34" charset="-120"/>
              </a:rPr>
              <a:t>combined DP risk alerts</a:t>
            </a:r>
            <a:r>
              <a:rPr lang="en-US" sz="750" dirty="0">
                <a:solidFill>
                  <a:srgbClr val="FFFFFF"/>
                </a:solidFill>
                <a:latin typeface="Heebo" pitchFamily="34" charset="0"/>
                <a:ea typeface="Heebo" pitchFamily="34" charset="-122"/>
                <a:cs typeface="Heebo" pitchFamily="34" charset="-120"/>
              </a:rPr>
              <a:t> that trigger on Humidex + flow combinations, not single-variable thresholds</a:t>
            </a:r>
            <a:endParaRPr lang="en-US" sz="750" dirty="0"/>
          </a:p>
          <a:p>
            <a:pPr marL="152400" indent="-152400" algn="l">
              <a:lnSpc>
                <a:spcPct val="119000"/>
              </a:lnSpc>
              <a:buSzPct val="100000"/>
              <a:buChar char="•"/>
            </a:pPr>
            <a:r>
              <a:rPr lang="en-US" sz="750" dirty="0">
                <a:solidFill>
                  <a:srgbClr val="FFFFFF"/>
                </a:solidFill>
                <a:latin typeface="Heebo" pitchFamily="34" charset="0"/>
                <a:ea typeface="Heebo" pitchFamily="34" charset="-122"/>
                <a:cs typeface="Heebo" pitchFamily="34" charset="-120"/>
              </a:rPr>
              <a:t>Review </a:t>
            </a:r>
            <a:r>
              <a:rPr lang="en-US" sz="750" b="1" dirty="0">
                <a:solidFill>
                  <a:srgbClr val="FFFFFF"/>
                </a:solidFill>
                <a:latin typeface="Heebo Bold" pitchFamily="34" charset="0"/>
                <a:ea typeface="Heebo Bold" pitchFamily="34" charset="-122"/>
                <a:cs typeface="Heebo Bold" pitchFamily="34" charset="-120"/>
              </a:rPr>
              <a:t>output pressure strategy during forecast high-demand periods</a:t>
            </a:r>
            <a:r>
              <a:rPr lang="en-US" sz="750" dirty="0">
                <a:solidFill>
                  <a:srgbClr val="FFFFFF"/>
                </a:solidFill>
                <a:latin typeface="Heebo" pitchFamily="34" charset="0"/>
                <a:ea typeface="Heebo" pitchFamily="34" charset="-122"/>
                <a:cs typeface="Heebo" pitchFamily="34" charset="-120"/>
              </a:rPr>
              <a:t> — it is the strongest controllable positive lever identified in the analysis</a:t>
            </a:r>
            <a:endParaRPr lang="en-US" sz="750" dirty="0"/>
          </a:p>
        </p:txBody>
      </p:sp>
      <p:sp>
        <p:nvSpPr>
          <p:cNvPr id="8" name="Text 6"/>
          <p:cNvSpPr/>
          <p:nvPr/>
        </p:nvSpPr>
        <p:spPr>
          <a:xfrm>
            <a:off x="4694932" y="1027807"/>
            <a:ext cx="3957712" cy="151433"/>
          </a:xfrm>
          <a:prstGeom prst="rect">
            <a:avLst/>
          </a:prstGeom>
          <a:noFill/>
          <a:ln/>
        </p:spPr>
        <p:txBody>
          <a:bodyPr wrap="none" lIns="0" tIns="0" rIns="0" bIns="0" rtlCol="0" anchor="t"/>
          <a:lstStyle/>
          <a:p>
            <a:pPr marL="0" indent="0" algn="l">
              <a:lnSpc>
                <a:spcPct val="104000"/>
              </a:lnSpc>
              <a:buNone/>
            </a:pPr>
            <a:r>
              <a:rPr lang="en-US" sz="950" dirty="0" smtClean="0">
                <a:solidFill>
                  <a:srgbClr val="152D47"/>
                </a:solidFill>
                <a:latin typeface="Crimson Pro SemiBold" pitchFamily="34" charset="0"/>
                <a:ea typeface="Crimson Pro SemiBold" pitchFamily="34" charset="-122"/>
                <a:cs typeface="Crimson Pro SemiBold" pitchFamily="34" charset="-120"/>
              </a:rPr>
              <a:t>Medium Term </a:t>
            </a:r>
            <a:r>
              <a:rPr lang="en-US" sz="950" dirty="0">
                <a:solidFill>
                  <a:srgbClr val="152D47"/>
                </a:solidFill>
                <a:latin typeface="Crimson Pro SemiBold" pitchFamily="34" charset="0"/>
                <a:ea typeface="Crimson Pro SemiBold" pitchFamily="34" charset="-122"/>
                <a:cs typeface="Crimson Pro SemiBold" pitchFamily="34" charset="-120"/>
              </a:rPr>
              <a:t>Improvements</a:t>
            </a:r>
            <a:endParaRPr lang="en-US" sz="950" dirty="0"/>
          </a:p>
        </p:txBody>
      </p:sp>
      <p:sp>
        <p:nvSpPr>
          <p:cNvPr id="9" name="Text 7"/>
          <p:cNvSpPr/>
          <p:nvPr/>
        </p:nvSpPr>
        <p:spPr>
          <a:xfrm>
            <a:off x="4694932" y="1254919"/>
            <a:ext cx="3957712" cy="881211"/>
          </a:xfrm>
          <a:prstGeom prst="rect">
            <a:avLst/>
          </a:prstGeom>
          <a:noFill/>
          <a:ln/>
        </p:spPr>
        <p:txBody>
          <a:bodyPr wrap="square" lIns="0" tIns="0" rIns="0" bIns="0" rtlCol="0" anchor="t">
            <a:normAutofit/>
          </a:bodyPr>
          <a:lstStyle/>
          <a:p>
            <a:pPr marL="152400" indent="-152400" algn="l">
              <a:lnSpc>
                <a:spcPct val="119000"/>
              </a:lnSpc>
              <a:buSzPct val="100000"/>
              <a:buChar char="•"/>
            </a:pPr>
            <a:r>
              <a:rPr lang="en-US" sz="750" dirty="0">
                <a:solidFill>
                  <a:srgbClr val="4C4C4D"/>
                </a:solidFill>
                <a:latin typeface="Heebo" pitchFamily="34" charset="0"/>
                <a:ea typeface="Heebo" pitchFamily="34" charset="-122"/>
                <a:cs typeface="Heebo" pitchFamily="34" charset="-120"/>
              </a:rPr>
              <a:t>Review </a:t>
            </a:r>
            <a:r>
              <a:rPr lang="en-US" sz="750" b="1" dirty="0">
                <a:solidFill>
                  <a:srgbClr val="4C4C4D"/>
                </a:solidFill>
                <a:latin typeface="Heebo Bold" pitchFamily="34" charset="0"/>
                <a:ea typeface="Heebo Bold" pitchFamily="34" charset="-122"/>
                <a:cs typeface="Heebo Bold" pitchFamily="34" charset="-120"/>
              </a:rPr>
              <a:t>plant dispatch strategy</a:t>
            </a:r>
            <a:r>
              <a:rPr lang="en-US" sz="750" dirty="0">
                <a:solidFill>
                  <a:srgbClr val="4C4C4D"/>
                </a:solidFill>
                <a:latin typeface="Heebo" pitchFamily="34" charset="0"/>
                <a:ea typeface="Heebo" pitchFamily="34" charset="-122"/>
                <a:cs typeface="Heebo" pitchFamily="34" charset="-120"/>
              </a:rPr>
              <a:t> — Plant 2's negative association with customer DP warrants investigation with Operations; Plant 1 and Plant 2 behave differently under load</a:t>
            </a:r>
            <a:endParaRPr lang="en-US" sz="750" dirty="0"/>
          </a:p>
          <a:p>
            <a:pPr marL="152400" indent="-152400" algn="l">
              <a:lnSpc>
                <a:spcPct val="119000"/>
              </a:lnSpc>
              <a:buSzPct val="100000"/>
              <a:buChar char="•"/>
            </a:pPr>
            <a:r>
              <a:rPr lang="en-US" sz="750" dirty="0">
                <a:solidFill>
                  <a:srgbClr val="4C4C4D"/>
                </a:solidFill>
                <a:latin typeface="Heebo" pitchFamily="34" charset="0"/>
                <a:ea typeface="Heebo" pitchFamily="34" charset="-122"/>
                <a:cs typeface="Heebo" pitchFamily="34" charset="-120"/>
              </a:rPr>
              <a:t>Monitor </a:t>
            </a:r>
            <a:r>
              <a:rPr lang="en-US" sz="750" b="1" dirty="0">
                <a:solidFill>
                  <a:srgbClr val="4C4C4D"/>
                </a:solidFill>
                <a:latin typeface="Heebo Bold" pitchFamily="34" charset="0"/>
                <a:ea typeface="Heebo Bold" pitchFamily="34" charset="-122"/>
                <a:cs typeface="Heebo Bold" pitchFamily="34" charset="-120"/>
              </a:rPr>
              <a:t>upset event duration</a:t>
            </a:r>
            <a:r>
              <a:rPr lang="en-US" sz="750" dirty="0">
                <a:solidFill>
                  <a:srgbClr val="4C4C4D"/>
                </a:solidFill>
                <a:latin typeface="Heebo" pitchFamily="34" charset="0"/>
                <a:ea typeface="Heebo" pitchFamily="34" charset="-122"/>
                <a:cs typeface="Heebo" pitchFamily="34" charset="-120"/>
              </a:rPr>
              <a:t>, not just frequency — a 20-minute breach has materially different customer impact than a 2-minute spike</a:t>
            </a:r>
            <a:endParaRPr lang="en-US" sz="750" dirty="0"/>
          </a:p>
          <a:p>
            <a:pPr marL="152400" indent="-152400" algn="l">
              <a:lnSpc>
                <a:spcPct val="119000"/>
              </a:lnSpc>
              <a:buSzPct val="100000"/>
              <a:buChar char="•"/>
            </a:pPr>
            <a:r>
              <a:rPr lang="en-US" sz="750" dirty="0">
                <a:solidFill>
                  <a:srgbClr val="4C4C4D"/>
                </a:solidFill>
                <a:latin typeface="Heebo" pitchFamily="34" charset="0"/>
                <a:ea typeface="Heebo" pitchFamily="34" charset="-122"/>
                <a:cs typeface="Heebo" pitchFamily="34" charset="-120"/>
              </a:rPr>
              <a:t>Add </a:t>
            </a:r>
            <a:r>
              <a:rPr lang="en-US" sz="750" b="1" dirty="0">
                <a:solidFill>
                  <a:srgbClr val="4C4C4D"/>
                </a:solidFill>
                <a:latin typeface="Heebo Bold" pitchFamily="34" charset="0"/>
                <a:ea typeface="Heebo Bold" pitchFamily="34" charset="-122"/>
                <a:cs typeface="Heebo Bold" pitchFamily="34" charset="-120"/>
              </a:rPr>
              <a:t>predictive weather monitoring</a:t>
            </a:r>
            <a:r>
              <a:rPr lang="en-US" sz="750" dirty="0">
                <a:solidFill>
                  <a:srgbClr val="4C4C4D"/>
                </a:solidFill>
                <a:latin typeface="Heebo" pitchFamily="34" charset="0"/>
                <a:ea typeface="Heebo" pitchFamily="34" charset="-122"/>
                <a:cs typeface="Heebo" pitchFamily="34" charset="-120"/>
              </a:rPr>
              <a:t> to operational planning; Humidex forecasts can provide 12–24 hour advance warning of elevated DP risk windows</a:t>
            </a:r>
            <a:endParaRPr lang="en-US" sz="750" dirty="0"/>
          </a:p>
        </p:txBody>
      </p:sp>
      <p:pic>
        <p:nvPicPr>
          <p:cNvPr id="10" name="Image 0" descr="preencoded.png"/>
          <p:cNvPicPr>
            <a:picLocks noChangeAspect="1"/>
          </p:cNvPicPr>
          <p:nvPr/>
        </p:nvPicPr>
        <p:blipFill>
          <a:blip r:embed="rId3"/>
          <a:stretch>
            <a:fillRect/>
          </a:stretch>
        </p:blipFill>
        <p:spPr>
          <a:xfrm>
            <a:off x="496119" y="2550319"/>
            <a:ext cx="8151763" cy="1981041"/>
          </a:xfrm>
          <a:prstGeom prst="rect">
            <a:avLst/>
          </a:prstGeom>
        </p:spPr>
      </p:pic>
      <p:sp>
        <p:nvSpPr>
          <p:cNvPr id="11" name="Text 8"/>
          <p:cNvSpPr/>
          <p:nvPr/>
        </p:nvSpPr>
        <p:spPr>
          <a:xfrm>
            <a:off x="1478791" y="3357896"/>
            <a:ext cx="1231850" cy="220564"/>
          </a:xfrm>
          <a:prstGeom prst="rect">
            <a:avLst/>
          </a:prstGeom>
          <a:noFill/>
          <a:ln/>
        </p:spPr>
        <p:txBody>
          <a:bodyPr wrap="none" lIns="0" tIns="0" rIns="0" bIns="0" rtlCol="0" anchor="t"/>
          <a:lstStyle/>
          <a:p>
            <a:pPr marL="0" indent="0" algn="ctr">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Warning Band</a:t>
            </a:r>
            <a:endParaRPr lang="en-US" sz="1350" dirty="0"/>
          </a:p>
        </p:txBody>
      </p:sp>
      <p:sp>
        <p:nvSpPr>
          <p:cNvPr id="12" name="Text 9"/>
          <p:cNvSpPr/>
          <p:nvPr/>
        </p:nvSpPr>
        <p:spPr>
          <a:xfrm>
            <a:off x="1478791" y="3641198"/>
            <a:ext cx="1231850" cy="314181"/>
          </a:xfrm>
          <a:prstGeom prst="rect">
            <a:avLst/>
          </a:prstGeom>
          <a:noFill/>
          <a:ln/>
        </p:spPr>
        <p:txBody>
          <a:bodyPr wrap="square" lIns="0" tIns="0" rIns="0" bIns="0" rtlCol="0" anchor="t">
            <a:normAutofit/>
          </a:bodyPr>
          <a:lstStyle/>
          <a:p>
            <a:pPr marL="0" indent="0" algn="ctr">
              <a:lnSpc>
                <a:spcPct val="93000"/>
              </a:lnSpc>
              <a:buNone/>
            </a:pPr>
            <a:r>
              <a:rPr lang="en-US" sz="1100" dirty="0">
                <a:solidFill>
                  <a:srgbClr val="4C4C4D"/>
                </a:solidFill>
                <a:latin typeface="Heebo" pitchFamily="34" charset="0"/>
                <a:ea typeface="Heebo" pitchFamily="34" charset="-122"/>
                <a:cs typeface="Heebo" pitchFamily="34" charset="-120"/>
              </a:rPr>
              <a:t>Early alert above 12 psi</a:t>
            </a:r>
            <a:endParaRPr lang="en-US" sz="1100" dirty="0"/>
          </a:p>
        </p:txBody>
      </p:sp>
      <p:sp>
        <p:nvSpPr>
          <p:cNvPr id="13" name="Text 10"/>
          <p:cNvSpPr/>
          <p:nvPr/>
        </p:nvSpPr>
        <p:spPr>
          <a:xfrm>
            <a:off x="3141353" y="3458375"/>
            <a:ext cx="1231850" cy="220564"/>
          </a:xfrm>
          <a:prstGeom prst="rect">
            <a:avLst/>
          </a:prstGeom>
          <a:noFill/>
          <a:ln/>
        </p:spPr>
        <p:txBody>
          <a:bodyPr wrap="none" lIns="0" tIns="0" rIns="0" bIns="0" rtlCol="0" anchor="t"/>
          <a:lstStyle/>
          <a:p>
            <a:pPr marL="0" indent="0" algn="ctr">
              <a:lnSpc>
                <a:spcPct val="104000"/>
              </a:lnSpc>
              <a:buNone/>
            </a:pPr>
            <a:r>
              <a:rPr lang="en-US" sz="1350" dirty="0">
                <a:solidFill>
                  <a:srgbClr val="152D47"/>
                </a:solidFill>
                <a:latin typeface="Crimson Pro SemiBold" pitchFamily="34" charset="0"/>
                <a:ea typeface="Crimson Pro SemiBold" pitchFamily="34" charset="-122"/>
                <a:cs typeface="Crimson Pro SemiBold" pitchFamily="34" charset="-120"/>
              </a:rPr>
              <a:t>Combined Alerts</a:t>
            </a:r>
            <a:endParaRPr lang="en-US" sz="1350" dirty="0"/>
          </a:p>
        </p:txBody>
      </p:sp>
      <p:sp>
        <p:nvSpPr>
          <p:cNvPr id="14" name="Text 11"/>
          <p:cNvSpPr/>
          <p:nvPr/>
        </p:nvSpPr>
        <p:spPr>
          <a:xfrm>
            <a:off x="3141353" y="3741677"/>
            <a:ext cx="1231850" cy="314181"/>
          </a:xfrm>
          <a:prstGeom prst="rect">
            <a:avLst/>
          </a:prstGeom>
          <a:noFill/>
          <a:ln/>
        </p:spPr>
        <p:txBody>
          <a:bodyPr wrap="square" lIns="0" tIns="0" rIns="0" bIns="0" rtlCol="0" anchor="t">
            <a:normAutofit/>
          </a:bodyPr>
          <a:lstStyle/>
          <a:p>
            <a:pPr marL="0" indent="0" algn="ctr">
              <a:lnSpc>
                <a:spcPct val="93000"/>
              </a:lnSpc>
              <a:buNone/>
            </a:pPr>
            <a:r>
              <a:rPr lang="en-US" sz="1100" dirty="0">
                <a:solidFill>
                  <a:srgbClr val="4C4C4D"/>
                </a:solidFill>
                <a:latin typeface="Heebo" pitchFamily="34" charset="0"/>
                <a:ea typeface="Heebo" pitchFamily="34" charset="-122"/>
                <a:cs typeface="Heebo" pitchFamily="34" charset="-120"/>
              </a:rPr>
              <a:t>Merge sensor and operational signals</a:t>
            </a:r>
            <a:endParaRPr lang="en-US" sz="1100" dirty="0"/>
          </a:p>
        </p:txBody>
      </p:sp>
      <p:sp>
        <p:nvSpPr>
          <p:cNvPr id="15" name="Text 12"/>
          <p:cNvSpPr/>
          <p:nvPr/>
        </p:nvSpPr>
        <p:spPr>
          <a:xfrm>
            <a:off x="4835284" y="3357896"/>
            <a:ext cx="1231850" cy="441128"/>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152D47"/>
                </a:solidFill>
                <a:latin typeface="Crimson Pro SemiBold" pitchFamily="34" charset="0"/>
                <a:ea typeface="Crimson Pro SemiBold" pitchFamily="34" charset="-122"/>
                <a:cs typeface="Crimson Pro SemiBold" pitchFamily="34" charset="-120"/>
              </a:rPr>
              <a:t>Weather Dispatch</a:t>
            </a:r>
            <a:endParaRPr lang="en-US" sz="1350" dirty="0"/>
          </a:p>
        </p:txBody>
      </p:sp>
      <p:sp>
        <p:nvSpPr>
          <p:cNvPr id="16" name="Text 13"/>
          <p:cNvSpPr/>
          <p:nvPr/>
        </p:nvSpPr>
        <p:spPr>
          <a:xfrm>
            <a:off x="4835284" y="3861762"/>
            <a:ext cx="1231850" cy="314181"/>
          </a:xfrm>
          <a:prstGeom prst="rect">
            <a:avLst/>
          </a:prstGeom>
          <a:noFill/>
          <a:ln/>
        </p:spPr>
        <p:txBody>
          <a:bodyPr wrap="square" lIns="0" tIns="0" rIns="0" bIns="0" rtlCol="0" anchor="t">
            <a:normAutofit/>
          </a:bodyPr>
          <a:lstStyle/>
          <a:p>
            <a:pPr marL="0" indent="0" algn="ctr">
              <a:lnSpc>
                <a:spcPct val="93000"/>
              </a:lnSpc>
              <a:buNone/>
            </a:pPr>
            <a:r>
              <a:rPr lang="en-US" sz="1100" dirty="0">
                <a:solidFill>
                  <a:srgbClr val="4C4C4D"/>
                </a:solidFill>
                <a:latin typeface="Heebo" pitchFamily="34" charset="0"/>
                <a:ea typeface="Heebo" pitchFamily="34" charset="-122"/>
                <a:cs typeface="Heebo" pitchFamily="34" charset="-120"/>
              </a:rPr>
              <a:t>Adjust </a:t>
            </a:r>
            <a:r>
              <a:rPr lang="en-US" sz="1100" dirty="0" smtClean="0">
                <a:solidFill>
                  <a:srgbClr val="4C4C4D"/>
                </a:solidFill>
                <a:latin typeface="Heebo" pitchFamily="34" charset="0"/>
                <a:ea typeface="Heebo" pitchFamily="34" charset="-122"/>
                <a:cs typeface="Heebo" pitchFamily="34" charset="-120"/>
              </a:rPr>
              <a:t>crew </a:t>
            </a:r>
            <a:r>
              <a:rPr lang="en-US" sz="1100" dirty="0">
                <a:solidFill>
                  <a:srgbClr val="4C4C4D"/>
                </a:solidFill>
                <a:latin typeface="Heebo" pitchFamily="34" charset="0"/>
                <a:ea typeface="Heebo" pitchFamily="34" charset="-122"/>
                <a:cs typeface="Heebo" pitchFamily="34" charset="-120"/>
              </a:rPr>
              <a:t>based on forecasts</a:t>
            </a:r>
            <a:endParaRPr lang="en-US" sz="1100" dirty="0"/>
          </a:p>
        </p:txBody>
      </p:sp>
      <p:sp>
        <p:nvSpPr>
          <p:cNvPr id="17" name="Text 14"/>
          <p:cNvSpPr/>
          <p:nvPr/>
        </p:nvSpPr>
        <p:spPr>
          <a:xfrm>
            <a:off x="6513530" y="3301285"/>
            <a:ext cx="1231849" cy="220564"/>
          </a:xfrm>
          <a:prstGeom prst="rect">
            <a:avLst/>
          </a:prstGeom>
          <a:noFill/>
          <a:ln/>
        </p:spPr>
        <p:txBody>
          <a:bodyPr wrap="none" lIns="0" tIns="0" rIns="0" bIns="0" rtlCol="0" anchor="t"/>
          <a:lstStyle/>
          <a:p>
            <a:pPr marL="0" indent="0" algn="ctr">
              <a:lnSpc>
                <a:spcPct val="104000"/>
              </a:lnSpc>
              <a:buNone/>
            </a:pPr>
            <a:r>
              <a:rPr lang="en-US" sz="1350" dirty="0">
                <a:solidFill>
                  <a:srgbClr val="152D47"/>
                </a:solidFill>
                <a:latin typeface="Crimson Pro SemiBold" pitchFamily="34" charset="0"/>
                <a:ea typeface="Crimson Pro SemiBold" pitchFamily="34" charset="-122"/>
                <a:cs typeface="Crimson Pro SemiBold" pitchFamily="34" charset="-120"/>
              </a:rPr>
              <a:t>Predictive DP</a:t>
            </a:r>
            <a:endParaRPr lang="en-US" sz="1350" dirty="0"/>
          </a:p>
        </p:txBody>
      </p:sp>
      <p:sp>
        <p:nvSpPr>
          <p:cNvPr id="18" name="Text 15"/>
          <p:cNvSpPr/>
          <p:nvPr/>
        </p:nvSpPr>
        <p:spPr>
          <a:xfrm>
            <a:off x="6513530" y="3584586"/>
            <a:ext cx="1231849" cy="471272"/>
          </a:xfrm>
          <a:prstGeom prst="rect">
            <a:avLst/>
          </a:prstGeom>
          <a:noFill/>
          <a:ln/>
        </p:spPr>
        <p:txBody>
          <a:bodyPr wrap="square" lIns="0" tIns="0" rIns="0" bIns="0" rtlCol="0" anchor="t">
            <a:normAutofit/>
          </a:bodyPr>
          <a:lstStyle/>
          <a:p>
            <a:pPr marL="0" indent="0" algn="ctr">
              <a:lnSpc>
                <a:spcPct val="93000"/>
              </a:lnSpc>
              <a:buNone/>
            </a:pPr>
            <a:r>
              <a:rPr lang="en-US" sz="1100" dirty="0">
                <a:solidFill>
                  <a:srgbClr val="4C4C4D"/>
                </a:solidFill>
                <a:latin typeface="Heebo" pitchFamily="34" charset="0"/>
                <a:ea typeface="Heebo" pitchFamily="34" charset="-122"/>
                <a:cs typeface="Heebo" pitchFamily="34" charset="-120"/>
              </a:rPr>
              <a:t>Forecast depressurization events</a:t>
            </a:r>
            <a:endParaRPr lang="en-US" sz="1100" dirty="0"/>
          </a:p>
        </p:txBody>
      </p:sp>
      <p:sp>
        <p:nvSpPr>
          <p:cNvPr id="19" name="TextBox 18"/>
          <p:cNvSpPr txBox="1"/>
          <p:nvPr/>
        </p:nvSpPr>
        <p:spPr>
          <a:xfrm>
            <a:off x="554235" y="4585579"/>
            <a:ext cx="7905823" cy="507831"/>
          </a:xfrm>
          <a:prstGeom prst="rect">
            <a:avLst/>
          </a:prstGeom>
          <a:noFill/>
        </p:spPr>
        <p:txBody>
          <a:bodyPr wrap="square" rtlCol="0">
            <a:spAutoFit/>
          </a:bodyPr>
          <a:lstStyle/>
          <a:p>
            <a:pPr marL="171450" indent="-171450">
              <a:buFont typeface="Wingdings" panose="05000000000000000000" pitchFamily="2" charset="2"/>
              <a:buChar char="Ø"/>
            </a:pPr>
            <a:r>
              <a:rPr lang="en-US" sz="900" dirty="0">
                <a:latin typeface="Heebo" panose="020B0604020202020204" charset="-79"/>
                <a:cs typeface="Heebo" panose="020B0604020202020204" charset="-79"/>
              </a:rPr>
              <a:t>Recommendations are prioritized based on operational feasibility, potential customer impact, and the statistical evidence observed during </a:t>
            </a:r>
            <a:r>
              <a:rPr lang="en-US" sz="900" dirty="0" smtClean="0">
                <a:latin typeface="Heebo" panose="020B0604020202020204" charset="-79"/>
                <a:cs typeface="Heebo" panose="020B0604020202020204" charset="-79"/>
              </a:rPr>
              <a:t>the analysis </a:t>
            </a:r>
            <a:r>
              <a:rPr lang="en-US" sz="900" dirty="0">
                <a:latin typeface="Heebo" panose="020B0604020202020204" charset="-79"/>
                <a:cs typeface="Heebo" panose="020B0604020202020204" charset="-79"/>
              </a:rPr>
              <a:t>period</a:t>
            </a:r>
            <a:r>
              <a:rPr lang="en-US" dirty="0"/>
              <a:t>. </a:t>
            </a:r>
            <a:r>
              <a:rPr lang="en-US" sz="900" dirty="0">
                <a:latin typeface="Heebo" panose="020B0604020202020204" charset="-79"/>
                <a:cs typeface="Heebo" panose="020B0604020202020204" charset="-79"/>
              </a:rPr>
              <a:t>Validate recommendations jointly with Operations, Plant Chiefs, and Engineering before modifying dispatch or pressure strategies</a:t>
            </a:r>
            <a:r>
              <a:rPr lang="en-US" sz="900" dirty="0" smtClean="0">
                <a:latin typeface="Heebo" panose="020B0604020202020204" charset="-79"/>
                <a:cs typeface="Heebo" panose="020B0604020202020204" charset="-79"/>
              </a:rPr>
              <a:t>.</a:t>
            </a:r>
            <a:endParaRPr lang="en-US" sz="900" dirty="0">
              <a:latin typeface="Heebo" panose="020B0604020202020204" charset="-79"/>
              <a:cs typeface="Heebo" panose="020B0604020202020204" charset="-79"/>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341114"/>
            <a:ext cx="1400473" cy="179561"/>
          </a:xfrm>
          <a:prstGeom prst="roundRect">
            <a:avLst>
              <a:gd name="adj" fmla="val 7901"/>
            </a:avLst>
          </a:prstGeom>
          <a:solidFill>
            <a:srgbClr val="CCD7FF"/>
          </a:solidFill>
          <a:ln/>
        </p:spPr>
      </p:sp>
      <p:sp>
        <p:nvSpPr>
          <p:cNvPr id="3" name="Text 1"/>
          <p:cNvSpPr/>
          <p:nvPr/>
        </p:nvSpPr>
        <p:spPr>
          <a:xfrm>
            <a:off x="567035" y="376535"/>
            <a:ext cx="1715839" cy="108719"/>
          </a:xfrm>
          <a:prstGeom prst="rect">
            <a:avLst/>
          </a:prstGeom>
          <a:noFill/>
          <a:ln/>
        </p:spPr>
        <p:txBody>
          <a:bodyPr wrap="none" lIns="0" tIns="0" rIns="0" bIns="0" rtlCol="0" anchor="t"/>
          <a:lstStyle/>
          <a:p>
            <a:pPr marL="0" indent="0" algn="l">
              <a:lnSpc>
                <a:spcPct val="96000"/>
              </a:lnSpc>
              <a:buNone/>
            </a:pPr>
            <a:r>
              <a:rPr lang="en-US" sz="700" dirty="0">
                <a:solidFill>
                  <a:srgbClr val="4C4C4D"/>
                </a:solidFill>
                <a:latin typeface="Heebo" pitchFamily="34" charset="0"/>
                <a:ea typeface="Heebo" pitchFamily="34" charset="-122"/>
                <a:cs typeface="Heebo" pitchFamily="34" charset="-120"/>
              </a:rPr>
              <a:t>GOVERNANCE &amp; NEXT STEPS</a:t>
            </a:r>
            <a:endParaRPr lang="en-US" sz="700" dirty="0"/>
          </a:p>
        </p:txBody>
      </p:sp>
      <p:sp>
        <p:nvSpPr>
          <p:cNvPr id="4" name="Text 2"/>
          <p:cNvSpPr/>
          <p:nvPr/>
        </p:nvSpPr>
        <p:spPr>
          <a:xfrm>
            <a:off x="496119" y="565696"/>
            <a:ext cx="8151763" cy="369466"/>
          </a:xfrm>
          <a:prstGeom prst="rect">
            <a:avLst/>
          </a:prstGeom>
          <a:noFill/>
          <a:ln/>
        </p:spPr>
        <p:txBody>
          <a:bodyPr wrap="none" lIns="0" tIns="0" rIns="0" bIns="0" rtlCol="0" anchor="t"/>
          <a:lstStyle/>
          <a:p>
            <a:pPr marL="0" indent="0" algn="l">
              <a:lnSpc>
                <a:spcPct val="104000"/>
              </a:lnSpc>
              <a:buNone/>
            </a:pPr>
            <a:r>
              <a:rPr lang="en-US" sz="2300" dirty="0">
                <a:solidFill>
                  <a:srgbClr val="152D47"/>
                </a:solidFill>
                <a:latin typeface="Crimson Pro SemiBold" pitchFamily="34" charset="0"/>
                <a:ea typeface="Crimson Pro SemiBold" pitchFamily="34" charset="-122"/>
                <a:cs typeface="Crimson Pro SemiBold" pitchFamily="34" charset="-120"/>
              </a:rPr>
              <a:t>Operational Considerations &amp; Next Steps</a:t>
            </a:r>
            <a:endParaRPr lang="en-US" sz="2300" dirty="0"/>
          </a:p>
        </p:txBody>
      </p:sp>
      <p:sp>
        <p:nvSpPr>
          <p:cNvPr id="5" name="Text 3"/>
          <p:cNvSpPr/>
          <p:nvPr/>
        </p:nvSpPr>
        <p:spPr>
          <a:xfrm>
            <a:off x="496119" y="1216819"/>
            <a:ext cx="2524646" cy="184696"/>
          </a:xfrm>
          <a:prstGeom prst="rect">
            <a:avLst/>
          </a:prstGeom>
          <a:noFill/>
          <a:ln/>
        </p:spPr>
        <p:txBody>
          <a:bodyPr wrap="none" lIns="0" tIns="0" rIns="0" bIns="0" rtlCol="0" anchor="t"/>
          <a:lstStyle/>
          <a:p>
            <a:pPr marL="0" indent="0" algn="l">
              <a:lnSpc>
                <a:spcPct val="104000"/>
              </a:lnSpc>
              <a:buNone/>
            </a:pPr>
            <a:r>
              <a:rPr lang="en-US" sz="1150" dirty="0" smtClean="0">
                <a:solidFill>
                  <a:srgbClr val="152D47"/>
                </a:solidFill>
                <a:latin typeface="Crimson Pro SemiBold" pitchFamily="34" charset="0"/>
                <a:ea typeface="Crimson Pro SemiBold" pitchFamily="34" charset="-122"/>
                <a:cs typeface="Crimson Pro SemiBold" pitchFamily="34" charset="-120"/>
              </a:rPr>
              <a:t>Analytical Assumptions </a:t>
            </a:r>
            <a:r>
              <a:rPr lang="en-US" sz="1150" dirty="0">
                <a:solidFill>
                  <a:srgbClr val="152D47"/>
                </a:solidFill>
                <a:latin typeface="Crimson Pro SemiBold" pitchFamily="34" charset="0"/>
                <a:ea typeface="Crimson Pro SemiBold" pitchFamily="34" charset="-122"/>
                <a:cs typeface="Crimson Pro SemiBold" pitchFamily="34" charset="-120"/>
              </a:rPr>
              <a:t>Used</a:t>
            </a:r>
            <a:endParaRPr lang="en-US" sz="1150" dirty="0"/>
          </a:p>
        </p:txBody>
      </p:sp>
      <p:sp>
        <p:nvSpPr>
          <p:cNvPr id="6" name="Text 4"/>
          <p:cNvSpPr/>
          <p:nvPr/>
        </p:nvSpPr>
        <p:spPr>
          <a:xfrm>
            <a:off x="162631" y="1514177"/>
            <a:ext cx="2858134" cy="3068581"/>
          </a:xfrm>
          <a:prstGeom prst="rect">
            <a:avLst/>
          </a:prstGeom>
          <a:noFill/>
          <a:ln/>
        </p:spPr>
        <p:txBody>
          <a:bodyPr wrap="square" lIns="0" tIns="0" rIns="0" bIns="0" rtlCol="0" anchor="t">
            <a:normAutofit/>
          </a:bodyPr>
          <a:lstStyle/>
          <a:p>
            <a:pPr marL="182880" indent="-182880" algn="l">
              <a:lnSpc>
                <a:spcPct val="130000"/>
              </a:lnSpc>
              <a:buSzPct val="100000"/>
              <a:buChar char="•"/>
            </a:pPr>
            <a:r>
              <a:rPr lang="en-US" sz="1100" dirty="0">
                <a:solidFill>
                  <a:srgbClr val="4C4C4D"/>
                </a:solidFill>
                <a:latin typeface="Heebo" pitchFamily="34" charset="0"/>
                <a:ea typeface="Heebo" pitchFamily="34" charset="-122"/>
                <a:cs typeface="Heebo" pitchFamily="34" charset="-120"/>
              </a:rPr>
              <a:t>Peak conditions were analytically defined using the highest quartile of total cooling production — a formal operational peak definition was not available for this analysis.</a:t>
            </a:r>
            <a:endParaRPr lang="en-US" sz="1100" dirty="0"/>
          </a:p>
          <a:p>
            <a:pPr marL="182880" indent="-182880" algn="l">
              <a:lnSpc>
                <a:spcPct val="130000"/>
              </a:lnSpc>
              <a:buSzPct val="100000"/>
              <a:buChar char="•"/>
            </a:pPr>
            <a:r>
              <a:rPr lang="en-US" sz="1100" dirty="0">
                <a:solidFill>
                  <a:srgbClr val="4C4C4D"/>
                </a:solidFill>
                <a:latin typeface="Heebo" pitchFamily="34" charset="0"/>
                <a:ea typeface="Heebo" pitchFamily="34" charset="-122"/>
                <a:cs typeface="Heebo" pitchFamily="34" charset="-120"/>
              </a:rPr>
              <a:t>Non-peak monitoring used hourly assessment in accordance with the case clarification provided</a:t>
            </a:r>
            <a:endParaRPr lang="en-US" sz="1100" dirty="0"/>
          </a:p>
          <a:p>
            <a:pPr marL="182880" indent="-182880" algn="l">
              <a:lnSpc>
                <a:spcPct val="130000"/>
              </a:lnSpc>
              <a:buSzPct val="100000"/>
              <a:buChar char="•"/>
            </a:pPr>
            <a:r>
              <a:rPr lang="en-US" sz="1100" dirty="0">
                <a:solidFill>
                  <a:srgbClr val="4C4C4D"/>
                </a:solidFill>
                <a:latin typeface="Heebo" pitchFamily="34" charset="0"/>
                <a:ea typeface="Heebo" pitchFamily="34" charset="-122"/>
                <a:cs typeface="Heebo" pitchFamily="34" charset="-120"/>
              </a:rPr>
              <a:t>Results represent the observed two-week operating period (July 1–15, 2026) and should be interpreted within that context</a:t>
            </a:r>
            <a:endParaRPr lang="en-US" sz="1100" dirty="0"/>
          </a:p>
        </p:txBody>
      </p:sp>
      <p:sp>
        <p:nvSpPr>
          <p:cNvPr id="7" name="Text 5"/>
          <p:cNvSpPr/>
          <p:nvPr/>
        </p:nvSpPr>
        <p:spPr>
          <a:xfrm>
            <a:off x="3313956" y="1216819"/>
            <a:ext cx="2524646" cy="184696"/>
          </a:xfrm>
          <a:prstGeom prst="rect">
            <a:avLst/>
          </a:prstGeom>
          <a:noFill/>
          <a:ln/>
        </p:spPr>
        <p:txBody>
          <a:bodyPr wrap="none" lIns="0" tIns="0" rIns="0" bIns="0" rtlCol="0" anchor="t"/>
          <a:lstStyle/>
          <a:p>
            <a:pPr marL="0" indent="0" algn="l">
              <a:lnSpc>
                <a:spcPct val="104000"/>
              </a:lnSpc>
              <a:buNone/>
            </a:pPr>
            <a:r>
              <a:rPr lang="en-US" sz="1150" dirty="0">
                <a:solidFill>
                  <a:srgbClr val="152D47"/>
                </a:solidFill>
                <a:latin typeface="Crimson Pro SemiBold" pitchFamily="34" charset="0"/>
                <a:ea typeface="Crimson Pro SemiBold" pitchFamily="34" charset="-122"/>
                <a:cs typeface="Crimson Pro SemiBold" pitchFamily="34" charset="-120"/>
              </a:rPr>
              <a:t>Operational </a:t>
            </a:r>
            <a:r>
              <a:rPr lang="en-US" sz="1150" dirty="0" smtClean="0">
                <a:solidFill>
                  <a:srgbClr val="152D47"/>
                </a:solidFill>
                <a:latin typeface="Crimson Pro SemiBold" pitchFamily="34" charset="0"/>
                <a:ea typeface="Crimson Pro SemiBold" pitchFamily="34" charset="-122"/>
                <a:cs typeface="Crimson Pro SemiBold" pitchFamily="34" charset="-120"/>
              </a:rPr>
              <a:t>Validation</a:t>
            </a:r>
            <a:endParaRPr lang="en-US" sz="1150" dirty="0"/>
          </a:p>
        </p:txBody>
      </p:sp>
      <p:sp>
        <p:nvSpPr>
          <p:cNvPr id="8" name="Text 6"/>
          <p:cNvSpPr/>
          <p:nvPr/>
        </p:nvSpPr>
        <p:spPr>
          <a:xfrm>
            <a:off x="3313956" y="1514177"/>
            <a:ext cx="2524646" cy="2760457"/>
          </a:xfrm>
          <a:prstGeom prst="rect">
            <a:avLst/>
          </a:prstGeom>
          <a:noFill/>
          <a:ln/>
        </p:spPr>
        <p:txBody>
          <a:bodyPr wrap="square" lIns="0" tIns="0" rIns="0" bIns="0" rtlCol="0" anchor="t">
            <a:noAutofit/>
          </a:bodyPr>
          <a:lstStyle/>
          <a:p>
            <a:pPr marL="171450" indent="-171450">
              <a:lnSpc>
                <a:spcPct val="130000"/>
              </a:lnSpc>
              <a:buSzPct val="100000"/>
              <a:buFont typeface="Arial" panose="020B0604020202020204" pitchFamily="34" charset="0"/>
              <a:buChar char="•"/>
            </a:pPr>
            <a:r>
              <a:rPr lang="en-US" sz="1050" dirty="0">
                <a:solidFill>
                  <a:srgbClr val="4C4C4D"/>
                </a:solidFill>
                <a:latin typeface="Heebo" pitchFamily="34" charset="0"/>
                <a:ea typeface="Heebo" pitchFamily="34" charset="-122"/>
                <a:cs typeface="Heebo" pitchFamily="34" charset="-120"/>
              </a:rPr>
              <a:t>Validate findings over additional operating seasons — a two-week summer window may not represent full annual system behaviour</a:t>
            </a:r>
          </a:p>
          <a:p>
            <a:pPr marL="171450" indent="-171450">
              <a:lnSpc>
                <a:spcPct val="130000"/>
              </a:lnSpc>
              <a:buSzPct val="100000"/>
              <a:buFont typeface="Arial" panose="020B0604020202020204" pitchFamily="34" charset="0"/>
              <a:buChar char="•"/>
            </a:pPr>
            <a:r>
              <a:rPr lang="en-US" sz="1050" dirty="0">
                <a:solidFill>
                  <a:srgbClr val="4C4C4D"/>
                </a:solidFill>
                <a:latin typeface="Heebo" pitchFamily="34" charset="0"/>
                <a:ea typeface="Heebo" pitchFamily="34" charset="-122"/>
                <a:cs typeface="Heebo" pitchFamily="34" charset="-120"/>
              </a:rPr>
              <a:t>Confirm plant dispatch behaviour with Operations — the Plant 2 negative association requires engineering and operational review before any dispatch changes are made</a:t>
            </a:r>
          </a:p>
          <a:p>
            <a:pPr marL="171450" indent="-171450">
              <a:lnSpc>
                <a:spcPct val="130000"/>
              </a:lnSpc>
              <a:buSzPct val="100000"/>
              <a:buFont typeface="Arial" panose="020B0604020202020204" pitchFamily="34" charset="0"/>
              <a:buChar char="•"/>
            </a:pPr>
            <a:r>
              <a:rPr lang="en-US" sz="1050" dirty="0">
                <a:solidFill>
                  <a:srgbClr val="4C4C4D"/>
                </a:solidFill>
                <a:latin typeface="Heebo" pitchFamily="34" charset="0"/>
                <a:ea typeface="Heebo" pitchFamily="34" charset="-122"/>
                <a:cs typeface="Heebo" pitchFamily="34" charset="-120"/>
              </a:rPr>
              <a:t>Compare findings with engineering operating limits and existing control setpoints to ensure recommendations are within safe operating bounds</a:t>
            </a:r>
          </a:p>
        </p:txBody>
      </p:sp>
      <p:sp>
        <p:nvSpPr>
          <p:cNvPr id="9" name="Text 7"/>
          <p:cNvSpPr/>
          <p:nvPr/>
        </p:nvSpPr>
        <p:spPr>
          <a:xfrm>
            <a:off x="6131793" y="1216819"/>
            <a:ext cx="2524646" cy="184696"/>
          </a:xfrm>
          <a:prstGeom prst="rect">
            <a:avLst/>
          </a:prstGeom>
          <a:noFill/>
          <a:ln/>
        </p:spPr>
        <p:txBody>
          <a:bodyPr wrap="none" lIns="0" tIns="0" rIns="0" bIns="0" rtlCol="0" anchor="t"/>
          <a:lstStyle/>
          <a:p>
            <a:pPr marL="0" indent="0" algn="l">
              <a:lnSpc>
                <a:spcPct val="104000"/>
              </a:lnSpc>
              <a:buNone/>
            </a:pPr>
            <a:r>
              <a:rPr lang="en-US" sz="1150" dirty="0">
                <a:solidFill>
                  <a:srgbClr val="152D47"/>
                </a:solidFill>
                <a:latin typeface="Crimson Pro SemiBold" pitchFamily="34" charset="0"/>
                <a:ea typeface="Crimson Pro SemiBold" pitchFamily="34" charset="-122"/>
                <a:cs typeface="Crimson Pro SemiBold" pitchFamily="34" charset="-120"/>
              </a:rPr>
              <a:t>Future Operational Opportunities</a:t>
            </a:r>
            <a:endParaRPr lang="en-US" sz="1150" dirty="0"/>
          </a:p>
        </p:txBody>
      </p:sp>
      <p:sp>
        <p:nvSpPr>
          <p:cNvPr id="10" name="Text 8"/>
          <p:cNvSpPr/>
          <p:nvPr/>
        </p:nvSpPr>
        <p:spPr>
          <a:xfrm>
            <a:off x="6131793" y="1514177"/>
            <a:ext cx="2524646" cy="3629323"/>
          </a:xfrm>
          <a:prstGeom prst="rect">
            <a:avLst/>
          </a:prstGeom>
          <a:noFill/>
          <a:ln/>
        </p:spPr>
        <p:txBody>
          <a:bodyPr wrap="square" lIns="0" tIns="0" rIns="0" bIns="0" rtlCol="0" anchor="t">
            <a:noAutofit/>
          </a:bodyPr>
          <a:lstStyle/>
          <a:p>
            <a:pPr marL="182880" indent="-182880">
              <a:lnSpc>
                <a:spcPct val="130000"/>
              </a:lnSpc>
              <a:buSzPct val="100000"/>
              <a:buChar char="•"/>
            </a:pPr>
            <a:r>
              <a:rPr lang="en-US" sz="1100" dirty="0">
                <a:solidFill>
                  <a:srgbClr val="4C4C4D"/>
                </a:solidFill>
                <a:latin typeface="Heebo" pitchFamily="34" charset="0"/>
                <a:ea typeface="Heebo" pitchFamily="34" charset="-122"/>
                <a:cs typeface="Heebo" pitchFamily="34" charset="-120"/>
              </a:rPr>
              <a:t>Incorporate </a:t>
            </a:r>
            <a:r>
              <a:rPr lang="en-US" sz="1100" dirty="0" smtClean="0">
                <a:solidFill>
                  <a:srgbClr val="4C4C4D"/>
                </a:solidFill>
                <a:latin typeface="Heebo" pitchFamily="34" charset="0"/>
                <a:ea typeface="Heebo" pitchFamily="34" charset="-122"/>
                <a:cs typeface="Heebo" pitchFamily="34" charset="-120"/>
              </a:rPr>
              <a:t>other system features gotten from telemetry data to </a:t>
            </a:r>
            <a:r>
              <a:rPr lang="en-US" sz="1100" dirty="0">
                <a:solidFill>
                  <a:srgbClr val="4C4C4D"/>
                </a:solidFill>
                <a:latin typeface="Heebo" pitchFamily="34" charset="0"/>
                <a:ea typeface="Heebo" pitchFamily="34" charset="-122"/>
                <a:cs typeface="Heebo" pitchFamily="34" charset="-120"/>
              </a:rPr>
              <a:t>improve model specificity</a:t>
            </a:r>
          </a:p>
          <a:p>
            <a:pPr marL="182880" indent="-182880">
              <a:lnSpc>
                <a:spcPct val="130000"/>
              </a:lnSpc>
              <a:buSzPct val="100000"/>
              <a:buChar char="•"/>
            </a:pPr>
            <a:r>
              <a:rPr lang="en-US" sz="1100" dirty="0" smtClean="0">
                <a:solidFill>
                  <a:srgbClr val="4C4C4D"/>
                </a:solidFill>
                <a:latin typeface="Heebo" pitchFamily="34" charset="0"/>
                <a:ea typeface="Heebo" pitchFamily="34" charset="-122"/>
                <a:cs typeface="Heebo" pitchFamily="34" charset="-120"/>
              </a:rPr>
              <a:t>Develop </a:t>
            </a:r>
            <a:r>
              <a:rPr lang="en-US" sz="1100" dirty="0">
                <a:solidFill>
                  <a:srgbClr val="4C4C4D"/>
                </a:solidFill>
                <a:latin typeface="Heebo" pitchFamily="34" charset="0"/>
                <a:ea typeface="Heebo" pitchFamily="34" charset="-122"/>
                <a:cs typeface="Heebo" pitchFamily="34" charset="-120"/>
              </a:rPr>
              <a:t>predictive DP risk forecasting using weather forecast inputs (24–48 hour Humidex outlook)</a:t>
            </a:r>
          </a:p>
          <a:p>
            <a:pPr marL="182880" indent="-182880">
              <a:lnSpc>
                <a:spcPct val="130000"/>
              </a:lnSpc>
              <a:buSzPct val="100000"/>
              <a:buChar char="•"/>
            </a:pPr>
            <a:r>
              <a:rPr lang="en-US" sz="1100" dirty="0">
                <a:solidFill>
                  <a:srgbClr val="4C4C4D"/>
                </a:solidFill>
                <a:latin typeface="Heebo" pitchFamily="34" charset="0"/>
                <a:ea typeface="Heebo" pitchFamily="34" charset="-122"/>
                <a:cs typeface="Heebo" pitchFamily="34" charset="-120"/>
              </a:rPr>
              <a:t>Integrate findings into a Power BI operational dashboard for daily monitoring by plant </a:t>
            </a:r>
            <a:r>
              <a:rPr lang="en-US" sz="1100">
                <a:solidFill>
                  <a:srgbClr val="4C4C4D"/>
                </a:solidFill>
                <a:latin typeface="Heebo" pitchFamily="34" charset="0"/>
                <a:ea typeface="Heebo" pitchFamily="34" charset="-122"/>
                <a:cs typeface="Heebo" pitchFamily="34" charset="-120"/>
              </a:rPr>
              <a:t>operations </a:t>
            </a:r>
            <a:r>
              <a:rPr lang="en-US" sz="1100" smtClean="0">
                <a:solidFill>
                  <a:srgbClr val="4C4C4D"/>
                </a:solidFill>
                <a:latin typeface="Heebo" pitchFamily="34" charset="0"/>
                <a:ea typeface="Heebo" pitchFamily="34" charset="-122"/>
                <a:cs typeface="Heebo" pitchFamily="34" charset="-120"/>
              </a:rPr>
              <a:t>team.</a:t>
            </a:r>
            <a:endParaRPr lang="en-US" sz="1100" dirty="0">
              <a:solidFill>
                <a:srgbClr val="4C4C4D"/>
              </a:solidFill>
              <a:latin typeface="Heebo" pitchFamily="34" charset="0"/>
              <a:ea typeface="Heebo" pitchFamily="34" charset="-122"/>
              <a:cs typeface="Heebo" pitchFamily="34" charset="-120"/>
            </a:endParaRPr>
          </a:p>
        </p:txBody>
      </p:sp>
      <p:sp>
        <p:nvSpPr>
          <p:cNvPr id="11" name="TextBox 10"/>
          <p:cNvSpPr txBox="1"/>
          <p:nvPr/>
        </p:nvSpPr>
        <p:spPr>
          <a:xfrm>
            <a:off x="496119" y="4387296"/>
            <a:ext cx="6250077" cy="707886"/>
          </a:xfrm>
          <a:prstGeom prst="rect">
            <a:avLst/>
          </a:prstGeom>
          <a:noFill/>
        </p:spPr>
        <p:txBody>
          <a:bodyPr wrap="square" rtlCol="0">
            <a:spAutoFit/>
          </a:bodyPr>
          <a:lstStyle/>
          <a:p>
            <a:r>
              <a:rPr lang="en-US" sz="1000" b="1" dirty="0" smtClean="0">
                <a:latin typeface="Heebo" panose="020B0604020202020204" charset="-79"/>
                <a:cs typeface="Heebo" panose="020B0604020202020204" charset="-79"/>
              </a:rPr>
              <a:t>What would Success Look Like?</a:t>
            </a:r>
          </a:p>
          <a:p>
            <a:pPr marL="171450" indent="-171450">
              <a:buFont typeface="Arial" panose="020B0604020202020204" pitchFamily="34" charset="0"/>
              <a:buChar char="•"/>
            </a:pPr>
            <a:r>
              <a:rPr lang="en-US" sz="1000" dirty="0" smtClean="0">
                <a:latin typeface="Heebo" panose="020B0604020202020204" charset="-79"/>
                <a:cs typeface="Heebo" panose="020B0604020202020204" charset="-79"/>
              </a:rPr>
              <a:t>Fewer DP upset events, Improved Service Reliability, Stable building Temperatures.</a:t>
            </a:r>
          </a:p>
          <a:p>
            <a:pPr marL="171450" indent="-171450">
              <a:buFont typeface="Arial" panose="020B0604020202020204" pitchFamily="34" charset="0"/>
              <a:buChar char="•"/>
            </a:pPr>
            <a:r>
              <a:rPr lang="en-US" sz="1000" dirty="0" smtClean="0">
                <a:latin typeface="Heebo" panose="020B0604020202020204" charset="-79"/>
                <a:cs typeface="Heebo" panose="020B0604020202020204" charset="-79"/>
              </a:rPr>
              <a:t>Early DP warning, Better operation attention, Improved decisions during high demand</a:t>
            </a:r>
          </a:p>
          <a:p>
            <a:pPr marL="171450" indent="-171450">
              <a:buFont typeface="Arial" panose="020B0604020202020204" pitchFamily="34" charset="0"/>
              <a:buChar char="•"/>
            </a:pPr>
            <a:r>
              <a:rPr lang="en-US" sz="1000" dirty="0" smtClean="0">
                <a:latin typeface="Heebo" panose="020B0604020202020204" charset="-79"/>
                <a:cs typeface="Heebo" panose="020B0604020202020204" charset="-79"/>
              </a:rPr>
              <a:t>Reduced complaint, Better System Reliability, Data  driven operational decision making</a:t>
            </a:r>
            <a:endParaRPr lang="en-US" sz="1000" dirty="0">
              <a:latin typeface="Heebo" panose="020B0604020202020204" charset="-79"/>
              <a:cs typeface="Heebo" panose="020B0604020202020204" charset="-79"/>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2154734"/>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152D47"/>
                </a:solidFill>
                <a:latin typeface="Crimson Pro SemiBold" pitchFamily="34" charset="0"/>
                <a:ea typeface="Crimson Pro SemiBold" pitchFamily="34" charset="-122"/>
                <a:cs typeface="Crimson Pro SemiBold" pitchFamily="34" charset="-120"/>
              </a:rPr>
              <a:t>Thank you </a:t>
            </a:r>
            <a:r>
              <a:rPr lang="en-US" sz="2400" dirty="0" smtClean="0">
                <a:solidFill>
                  <a:srgbClr val="152D47"/>
                </a:solidFill>
                <a:latin typeface="Crimson Pro SemiBold" pitchFamily="34" charset="0"/>
                <a:ea typeface="Crimson Pro SemiBold" pitchFamily="34" charset="-122"/>
                <a:cs typeface="Crimson Pro SemiBold" pitchFamily="34" charset="-120"/>
              </a:rPr>
              <a:t>!</a:t>
            </a:r>
          </a:p>
          <a:p>
            <a:pPr marL="0" indent="0" algn="l">
              <a:lnSpc>
                <a:spcPct val="104000"/>
              </a:lnSpc>
              <a:buNone/>
            </a:pPr>
            <a:r>
              <a:rPr lang="en-US" sz="2400" dirty="0" smtClean="0">
                <a:solidFill>
                  <a:srgbClr val="152D47"/>
                </a:solidFill>
                <a:latin typeface="Crimson Pro SemiBold" pitchFamily="34" charset="0"/>
              </a:rPr>
              <a:t>Questions &amp; Discussion </a:t>
            </a:r>
            <a:endParaRPr lang="en-US" sz="2400" dirty="0"/>
          </a:p>
        </p:txBody>
      </p:sp>
      <p:sp>
        <p:nvSpPr>
          <p:cNvPr id="3" name="Text 1"/>
          <p:cNvSpPr/>
          <p:nvPr/>
        </p:nvSpPr>
        <p:spPr>
          <a:xfrm>
            <a:off x="496119" y="3132274"/>
            <a:ext cx="8608963" cy="198462"/>
          </a:xfrm>
          <a:prstGeom prst="rect">
            <a:avLst/>
          </a:prstGeom>
          <a:noFill/>
          <a:ln/>
        </p:spPr>
        <p:txBody>
          <a:bodyPr wrap="none" lIns="0" tIns="0" rIns="0" bIns="0" rtlCol="0" anchor="t"/>
          <a:lstStyle/>
          <a:p>
            <a:pPr marL="193040" indent="-193040" algn="l">
              <a:lnSpc>
                <a:spcPct val="133000"/>
              </a:lnSpc>
              <a:buSzPct val="100000"/>
              <a:buChar char="•"/>
            </a:pPr>
            <a:r>
              <a:rPr lang="en-US" sz="950" dirty="0">
                <a:solidFill>
                  <a:srgbClr val="4C4C4D"/>
                </a:solidFill>
                <a:latin typeface="Heebo" pitchFamily="34" charset="0"/>
                <a:ea typeface="Heebo" pitchFamily="34" charset="-122"/>
                <a:cs typeface="Heebo" pitchFamily="34" charset="-120"/>
              </a:rPr>
              <a:t>by Nd Fyneface</a:t>
            </a:r>
            <a:endParaRPr lang="en-US" sz="95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478</TotalTime>
  <Words>1799</Words>
  <Application>Microsoft Office PowerPoint</Application>
  <PresentationFormat>On-screen Show (16:9)</PresentationFormat>
  <Paragraphs>150</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Wingdings</vt:lpstr>
      <vt:lpstr>Heebo</vt:lpstr>
      <vt:lpstr>Crimson Pro SemiBold</vt:lpstr>
      <vt:lpstr>Arial</vt:lpstr>
      <vt:lpstr>Heebo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ND</cp:lastModifiedBy>
  <cp:revision>49</cp:revision>
  <dcterms:created xsi:type="dcterms:W3CDTF">2026-07-21T19:27:15Z</dcterms:created>
  <dcterms:modified xsi:type="dcterms:W3CDTF">2026-07-23T19:55:52Z</dcterms:modified>
</cp:coreProperties>
</file>